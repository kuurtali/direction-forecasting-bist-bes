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3" r:id="rId4"/>
    <p:sldId id="284" r:id="rId5"/>
    <p:sldId id="259" r:id="rId6"/>
    <p:sldId id="260" r:id="rId7"/>
    <p:sldId id="285" r:id="rId8"/>
    <p:sldId id="262" r:id="rId9"/>
    <p:sldId id="286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80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kem" initials="U" lastIdx="1" clrIdx="0">
    <p:extLst>
      <p:ext uri="{19B8F6BF-5375-455C-9EA6-DF929625EA0E}">
        <p15:presenceInfo xmlns:p15="http://schemas.microsoft.com/office/powerpoint/2012/main" userId="Hake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14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26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ACDC7-FE8C-4985-98B1-ACD812528F80}" type="datetimeFigureOut">
              <a:rPr lang="tr-TR" smtClean="0"/>
              <a:t>6.05.2026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1DE84-CBA0-448C-B337-6D33822BC52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0820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1DE84-CBA0-448C-B337-6D33822BC52F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5178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1DE84-CBA0-448C-B337-6D33822BC52F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2200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g_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86000" y="868680"/>
            <a:ext cx="950976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ahoma"/>
                <a:cs typeface="Tahoma"/>
              </a:rPr>
              <a:t>VII. INTERNATIONAL APPLIED STATISTICS CONGRESS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1325880"/>
            <a:ext cx="950976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Tahoma"/>
                <a:cs typeface="Tahoma"/>
              </a:rPr>
              <a:t>UYIK-2026  ·  Istanbul, Türkiye  ·  May 11-13,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2423160"/>
            <a:ext cx="9509760" cy="12801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2800" b="1" i="0" dirty="0">
                <a:solidFill>
                  <a:srgbClr val="0E2A4D"/>
                </a:solidFill>
                <a:latin typeface="Tahoma"/>
                <a:cs typeface="Tahoma"/>
              </a:rPr>
              <a:t>Directional Forecasting of
Pension Investment Funds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703320"/>
            <a:ext cx="9509760" cy="430887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400" b="0" i="1">
                <a:solidFill>
                  <a:srgbClr val="C81029"/>
                </a:solidFill>
                <a:latin typeface="Tahoma"/>
                <a:cs typeface="Tahoma"/>
              </a:rPr>
              <a:t>Evidence on the Majority Class Illusion from
ARIMA, CNN, and LSTM Models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31440" y="4770120"/>
            <a:ext cx="45719" cy="1188720"/>
          </a:xfrm>
          <a:prstGeom prst="rect">
            <a:avLst/>
          </a:prstGeom>
          <a:solidFill>
            <a:srgbClr val="C81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96033" y="4770120"/>
            <a:ext cx="2344928" cy="123111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800" b="1" i="0">
                <a:solidFill>
                  <a:srgbClr val="C81029"/>
                </a:solidFill>
                <a:latin typeface="Tahoma"/>
                <a:cs typeface="Tahoma"/>
              </a:rPr>
              <a:t>AUTHOR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6033" y="5044440"/>
            <a:ext cx="2344928" cy="18466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200" b="1" i="0">
                <a:solidFill>
                  <a:srgbClr val="0E2A4D"/>
                </a:solidFill>
                <a:latin typeface="Tahoma"/>
                <a:cs typeface="Tahoma"/>
              </a:rPr>
              <a:t>Şevval Demir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96033" y="5373624"/>
            <a:ext cx="2344928" cy="246221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Tahoma"/>
                <a:cs typeface="Tahoma"/>
              </a:rPr>
              <a:t>Department of Actuarial Sciences  ·  Hacettepe University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96033" y="5730240"/>
            <a:ext cx="2344928" cy="138499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1">
                <a:solidFill>
                  <a:srgbClr val="0E2A4D"/>
                </a:solidFill>
                <a:latin typeface="Tahoma"/>
                <a:cs typeface="Tahoma"/>
              </a:rPr>
              <a:t>dsevval5@gmail.com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31840" y="4770120"/>
            <a:ext cx="45719" cy="1188720"/>
          </a:xfrm>
          <a:prstGeom prst="rect">
            <a:avLst/>
          </a:prstGeom>
          <a:solidFill>
            <a:srgbClr val="C81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96432" y="4770120"/>
            <a:ext cx="2344928" cy="123111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800" b="1" i="0">
                <a:solidFill>
                  <a:srgbClr val="C81029"/>
                </a:solidFill>
                <a:latin typeface="Tahoma"/>
                <a:cs typeface="Tahoma"/>
              </a:rPr>
              <a:t>AUTHOR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96432" y="5044440"/>
            <a:ext cx="2344928" cy="18466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200" b="1" i="0">
                <a:solidFill>
                  <a:srgbClr val="0E2A4D"/>
                </a:solidFill>
                <a:latin typeface="Tahoma"/>
                <a:cs typeface="Tahoma"/>
              </a:rPr>
              <a:t>Mehmet Ali Kurt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96432" y="5373624"/>
            <a:ext cx="2344928" cy="246221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Tahoma"/>
                <a:cs typeface="Tahoma"/>
              </a:rPr>
              <a:t>Department of Actuarial Sciences  ·  Hacettepe University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96432" y="5730240"/>
            <a:ext cx="2344928" cy="138499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1">
                <a:solidFill>
                  <a:srgbClr val="0E2A4D"/>
                </a:solidFill>
                <a:latin typeface="Tahoma"/>
                <a:cs typeface="Tahoma"/>
              </a:rPr>
              <a:t>m.alikuurt0@gmail.com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2240" y="4770120"/>
            <a:ext cx="45719" cy="1188720"/>
          </a:xfrm>
          <a:prstGeom prst="rect">
            <a:avLst/>
          </a:prstGeom>
          <a:solidFill>
            <a:srgbClr val="C81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96833" y="4770120"/>
            <a:ext cx="2344928" cy="123111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800" b="1" i="0">
                <a:solidFill>
                  <a:srgbClr val="C81029"/>
                </a:solidFill>
                <a:latin typeface="Tahoma"/>
                <a:cs typeface="Tahoma"/>
              </a:rPr>
              <a:t>SUPERVISOR  ·  ASSIST. PROF. DR.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6833" y="5044440"/>
            <a:ext cx="2344928" cy="18466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1200" b="1" i="0">
                <a:solidFill>
                  <a:srgbClr val="0E2A4D"/>
                </a:solidFill>
                <a:latin typeface="Tahoma"/>
                <a:cs typeface="Tahoma"/>
              </a:rPr>
              <a:t>Övgücan Karadağ Erdemir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6833" y="5373624"/>
            <a:ext cx="2344928" cy="246221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800" b="0" i="0">
                <a:solidFill>
                  <a:srgbClr val="4A4A4A"/>
                </a:solidFill>
                <a:latin typeface="Tahoma"/>
                <a:cs typeface="Tahoma"/>
              </a:rPr>
              <a:t>Department of Actuarial Sciences  ·  Hacettepe University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6833" y="5730240"/>
            <a:ext cx="2344928" cy="138499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l"/>
            <a:r>
              <a:rPr sz="900" b="0" i="1">
                <a:solidFill>
                  <a:srgbClr val="0E2A4D"/>
                </a:solidFill>
                <a:latin typeface="Tahoma"/>
                <a:cs typeface="Tahoma"/>
              </a:rPr>
              <a:t>ovgucan@hacettepe.edu.tr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6080760"/>
            <a:ext cx="9509760" cy="32004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000" b="0" i="1" dirty="0">
                <a:solidFill>
                  <a:srgbClr val="4A4A4A"/>
                </a:solidFill>
                <a:latin typeface="Tahoma"/>
                <a:cs typeface="Tahoma"/>
              </a:rPr>
              <a:t>Data: TEFAS  ·  Period: April 2021 – April 2026  ·  Funds: ALZ • AZS • AMZ  ·  3 seeds × 81 configs / fund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1680" y="1046056"/>
            <a:ext cx="927100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1680" y="1813382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06272" y="1977974"/>
            <a:ext cx="457200" cy="45720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6272" y="2099677"/>
            <a:ext cx="45720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C99A3E"/>
                </a:solidFill>
                <a:latin typeface="Tahoma"/>
                <a:cs typeface="Tahom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8920" y="1886534"/>
            <a:ext cx="443484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0F2A47"/>
                </a:solidFill>
                <a:latin typeface="Tahoma"/>
                <a:cs typeface="Tahoma"/>
              </a:rPr>
              <a:t>Motivation &amp; 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8920" y="2224862"/>
            <a:ext cx="443484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 dirty="0">
                <a:solidFill>
                  <a:srgbClr val="4A5A6A"/>
                </a:solidFill>
                <a:latin typeface="Tahoma"/>
                <a:cs typeface="Tahoma"/>
              </a:rPr>
              <a:t>Why directional forecasting on BES?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5088" y="1813382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329680" y="1977974"/>
            <a:ext cx="457200" cy="45720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9680" y="2099677"/>
            <a:ext cx="45720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C99A3E"/>
                </a:solidFill>
                <a:latin typeface="Tahoma"/>
                <a:cs typeface="Tahom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2328" y="1886534"/>
            <a:ext cx="443484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F2A47"/>
                </a:solidFill>
                <a:latin typeface="Tahoma"/>
                <a:cs typeface="Tahoma"/>
              </a:rPr>
              <a:t>Data, Funds &amp; Class 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2328" y="2224862"/>
            <a:ext cx="443484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>
                <a:solidFill>
                  <a:srgbClr val="4A5A6A"/>
                </a:solidFill>
                <a:latin typeface="Tahoma"/>
                <a:cs typeface="Tahoma"/>
              </a:rPr>
              <a:t>ALZ / AZS / AMZ — risk profiles and label 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1680" y="3090099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06272" y="3254691"/>
            <a:ext cx="457200" cy="45720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6272" y="3376394"/>
            <a:ext cx="45720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C99A3E"/>
                </a:solidFill>
                <a:latin typeface="Tahoma"/>
                <a:cs typeface="Tahom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8920" y="3163251"/>
            <a:ext cx="443484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F2A47"/>
                </a:solidFill>
                <a:latin typeface="Tahoma"/>
                <a:cs typeface="Tahoma"/>
              </a:rPr>
              <a:t>Methodology &amp; Search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8920" y="3501579"/>
            <a:ext cx="443484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>
                <a:solidFill>
                  <a:srgbClr val="4A5A6A"/>
                </a:solidFill>
                <a:latin typeface="Tahoma"/>
                <a:cs typeface="Tahoma"/>
              </a:rPr>
              <a:t>ARIMA + LSTM + 1D-CNN  •  3 × 9 × 3 = 81 configs/fund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5088" y="3090099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29680" y="3254691"/>
            <a:ext cx="457200" cy="45720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9680" y="3376394"/>
            <a:ext cx="45720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C99A3E"/>
                </a:solidFill>
                <a:latin typeface="Tahoma"/>
                <a:cs typeface="Tahoma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2328" y="3163251"/>
            <a:ext cx="443484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0F2A47"/>
                </a:solidFill>
                <a:latin typeface="Tahoma"/>
                <a:cs typeface="Tahoma"/>
              </a:rPr>
              <a:t>The Majority-Class (MC) Illusion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2328" y="3501579"/>
            <a:ext cx="443484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>
                <a:solidFill>
                  <a:srgbClr val="4A5A6A"/>
                </a:solidFill>
                <a:latin typeface="Tahoma"/>
                <a:cs typeface="Tahoma"/>
              </a:rPr>
              <a:t>Why high accuracy can be empty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1680" y="4485870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06272" y="4650462"/>
            <a:ext cx="457200" cy="45720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6272" y="4772165"/>
            <a:ext cx="45720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C99A3E"/>
                </a:solidFill>
                <a:latin typeface="Tahoma"/>
                <a:cs typeface="Tahoma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8920" y="4559022"/>
            <a:ext cx="443484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0F2A47"/>
                </a:solidFill>
                <a:latin typeface="Tahoma"/>
                <a:cs typeface="Tahoma"/>
              </a:rPr>
              <a:t>Champion Configurations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8920" y="4897350"/>
            <a:ext cx="443484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050" b="0" i="1" dirty="0">
                <a:solidFill>
                  <a:srgbClr val="4A5A6A"/>
                </a:solidFill>
                <a:latin typeface="Tahoma"/>
                <a:cs typeface="Tahoma"/>
              </a:rPr>
              <a:t>AMZ LSTM (2,3) and AZS 1D-CNN (4,3)</a:t>
            </a:r>
            <a:r>
              <a:rPr lang="tr-TR" sz="1050" b="0" i="1" dirty="0">
                <a:solidFill>
                  <a:srgbClr val="4A5A6A"/>
                </a:solidFill>
                <a:latin typeface="Tahoma"/>
                <a:cs typeface="Tahoma"/>
              </a:rPr>
              <a:t>, </a:t>
            </a:r>
            <a:r>
              <a:rPr lang="tr-TR" sz="1050" i="1" dirty="0">
                <a:solidFill>
                  <a:srgbClr val="4A5A6A"/>
                </a:solidFill>
                <a:latin typeface="Tahoma"/>
                <a:cs typeface="Tahoma"/>
              </a:rPr>
              <a:t>seed stability, optimizer</a:t>
            </a:r>
            <a:endParaRPr sz="1050" b="0" i="1" dirty="0">
              <a:solidFill>
                <a:srgbClr val="4A5A6A"/>
              </a:solidFill>
              <a:latin typeface="Tahoma"/>
              <a:cs typeface="Tahoma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65088" y="4485870"/>
            <a:ext cx="53035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29680" y="4650462"/>
            <a:ext cx="457200" cy="457200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9680" y="4772165"/>
            <a:ext cx="45720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C99A3E"/>
                </a:solidFill>
                <a:latin typeface="Tahoma"/>
                <a:cs typeface="Tahoma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2328" y="4559022"/>
            <a:ext cx="443484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US" sz="1400" b="1" dirty="0">
                <a:solidFill>
                  <a:srgbClr val="0F2A47"/>
                </a:solidFill>
                <a:latin typeface="Tahoma"/>
                <a:cs typeface="Tahoma"/>
              </a:rPr>
              <a:t>Conclusions</a:t>
            </a:r>
            <a:r>
              <a:rPr sz="1400" b="1" i="0" dirty="0">
                <a:solidFill>
                  <a:srgbClr val="0F2A47"/>
                </a:solidFill>
                <a:latin typeface="Tahoma"/>
                <a:cs typeface="Tahoma"/>
              </a:rPr>
              <a:t> &amp;</a:t>
            </a:r>
            <a:r>
              <a:rPr lang="en-US" sz="1400" b="1" i="0" dirty="0">
                <a:solidFill>
                  <a:srgbClr val="0F2A47"/>
                </a:solidFill>
                <a:latin typeface="Tahoma"/>
                <a:cs typeface="Tahoma"/>
              </a:rPr>
              <a:t> </a:t>
            </a:r>
            <a:r>
              <a:rPr sz="1400" b="1" i="0" dirty="0">
                <a:solidFill>
                  <a:srgbClr val="0F2A47"/>
                </a:solidFill>
                <a:latin typeface="Tahoma"/>
                <a:cs typeface="Tahoma"/>
              </a:rPr>
              <a:t>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2328" y="4897350"/>
            <a:ext cx="4434840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US" sz="1050" i="1" dirty="0">
                <a:solidFill>
                  <a:srgbClr val="4A5A6A"/>
                </a:solidFill>
                <a:latin typeface="Tahoma"/>
                <a:cs typeface="Tahoma"/>
              </a:rPr>
              <a:t>Results, limitations,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g_slid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hape 14">
            <a:extLst>
              <a:ext uri="{FF2B5EF4-FFF2-40B4-BE49-F238E27FC236}">
                <a16:creationId xmlns:a16="http://schemas.microsoft.com/office/drawing/2014/main" id="{C56D7448-AC4B-664C-9E01-59BD38B072DD}"/>
              </a:ext>
            </a:extLst>
          </p:cNvPr>
          <p:cNvSpPr/>
          <p:nvPr/>
        </p:nvSpPr>
        <p:spPr>
          <a:xfrm>
            <a:off x="882795" y="1737360"/>
            <a:ext cx="5090160" cy="1853184"/>
          </a:xfrm>
          <a:prstGeom prst="rect">
            <a:avLst/>
          </a:prstGeom>
          <a:solidFill>
            <a:srgbClr val="F4F5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5BC14941-E477-0EEB-AA7B-6C196879252E}"/>
              </a:ext>
            </a:extLst>
          </p:cNvPr>
          <p:cNvSpPr/>
          <p:nvPr/>
        </p:nvSpPr>
        <p:spPr>
          <a:xfrm flipH="1">
            <a:off x="858760" y="1731406"/>
            <a:ext cx="98094" cy="1853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210456DA-9401-86CF-0D7F-E4B12E21F5E7}"/>
              </a:ext>
            </a:extLst>
          </p:cNvPr>
          <p:cNvSpPr/>
          <p:nvPr/>
        </p:nvSpPr>
        <p:spPr>
          <a:xfrm>
            <a:off x="1048533" y="1731406"/>
            <a:ext cx="4831836" cy="280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Classical ARIMA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82D95A64-C758-7B06-76FF-681770162D40}"/>
              </a:ext>
            </a:extLst>
          </p:cNvPr>
          <p:cNvSpPr/>
          <p:nvPr/>
        </p:nvSpPr>
        <p:spPr>
          <a:xfrm>
            <a:off x="1048533" y="2166632"/>
            <a:ext cx="4831836" cy="133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en-US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Box-Jenkins ARIMA remains the dominant benchmark in pension-fund return forecasting. Karadağ Erdemir &amp; Kırkağaç (2024) applied ARIMA to Turkish BES pension funds. Eşsiz &amp; Ordu (2024) applied ARIMA to S&amp;P 500 fund baskets. Strong parametric baseline, blind to non-linear structure.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D5473857-7575-1AC4-CF1A-5A1F6D78D279}"/>
              </a:ext>
            </a:extLst>
          </p:cNvPr>
          <p:cNvSpPr/>
          <p:nvPr/>
        </p:nvSpPr>
        <p:spPr>
          <a:xfrm>
            <a:off x="882795" y="3956304"/>
            <a:ext cx="5090160" cy="1853184"/>
          </a:xfrm>
          <a:prstGeom prst="rect">
            <a:avLst/>
          </a:prstGeom>
          <a:solidFill>
            <a:srgbClr val="F4F5F7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39993A79-8518-4458-C22F-009F75F7B4F9}"/>
              </a:ext>
            </a:extLst>
          </p:cNvPr>
          <p:cNvSpPr/>
          <p:nvPr/>
        </p:nvSpPr>
        <p:spPr>
          <a:xfrm flipH="1">
            <a:off x="850890" y="3956304"/>
            <a:ext cx="98094" cy="185318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CE41970B-FF1C-5FF5-3235-880BBD9F6781}"/>
              </a:ext>
            </a:extLst>
          </p:cNvPr>
          <p:cNvSpPr/>
          <p:nvPr/>
        </p:nvSpPr>
        <p:spPr>
          <a:xfrm>
            <a:off x="1048533" y="3950350"/>
            <a:ext cx="4831836" cy="280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B6E6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 Learning in Finance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EDDE6FDA-BFFF-7883-A1C7-BA80528991EB}"/>
              </a:ext>
            </a:extLst>
          </p:cNvPr>
          <p:cNvSpPr/>
          <p:nvPr/>
        </p:nvSpPr>
        <p:spPr>
          <a:xfrm>
            <a:off x="1048533" y="4385576"/>
            <a:ext cx="4831836" cy="133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en-US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Fischer &amp; Krauss (2018) showed LSTM networks outperform memory-free models on S&amp;P 500 constituents. Siami-Namini et al. (2019) reported LSTM/BiLSTM improvements over ARIMA on economic time-series. 1D-CNN offers a competitive and computationally cheaper alternative (Van der Burgt, 2023).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Shape 22">
            <a:extLst>
              <a:ext uri="{FF2B5EF4-FFF2-40B4-BE49-F238E27FC236}">
                <a16:creationId xmlns:a16="http://schemas.microsoft.com/office/drawing/2014/main" id="{30D0D417-3384-03AB-7C65-8B9F3F6CEDD3}"/>
              </a:ext>
            </a:extLst>
          </p:cNvPr>
          <p:cNvSpPr/>
          <p:nvPr/>
        </p:nvSpPr>
        <p:spPr>
          <a:xfrm>
            <a:off x="6289947" y="1737360"/>
            <a:ext cx="5090160" cy="1853184"/>
          </a:xfrm>
          <a:prstGeom prst="rect">
            <a:avLst/>
          </a:prstGeom>
          <a:solidFill>
            <a:srgbClr val="F4F5F7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FD2710F9-7813-74F8-E68C-2E5C431AAF87}"/>
              </a:ext>
            </a:extLst>
          </p:cNvPr>
          <p:cNvSpPr/>
          <p:nvPr/>
        </p:nvSpPr>
        <p:spPr>
          <a:xfrm>
            <a:off x="6455685" y="1731406"/>
            <a:ext cx="4831836" cy="280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8C151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Evaluation Methodology Gap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5C0BB1FF-3D55-EFCC-9403-9F3C142CE3AF}"/>
              </a:ext>
            </a:extLst>
          </p:cNvPr>
          <p:cNvSpPr/>
          <p:nvPr/>
        </p:nvSpPr>
        <p:spPr>
          <a:xfrm>
            <a:off x="6455685" y="2166632"/>
            <a:ext cx="4831836" cy="133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en-US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Finance DL studies frequently report raw accuracy without specificity, sensitivity or baseline comparison. Majority-Class illusion (Spec=0 or Sens=0) is rarely flagged, leading to overstated predictive performance on imbalanced data. This study addresses this gap explicitly.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Shape 26">
            <a:extLst>
              <a:ext uri="{FF2B5EF4-FFF2-40B4-BE49-F238E27FC236}">
                <a16:creationId xmlns:a16="http://schemas.microsoft.com/office/drawing/2014/main" id="{BD65F757-7C55-AD73-DDBB-04BF35C26F1C}"/>
              </a:ext>
            </a:extLst>
          </p:cNvPr>
          <p:cNvSpPr/>
          <p:nvPr/>
        </p:nvSpPr>
        <p:spPr>
          <a:xfrm>
            <a:off x="6289947" y="3956304"/>
            <a:ext cx="5090160" cy="1853184"/>
          </a:xfrm>
          <a:prstGeom prst="rect">
            <a:avLst/>
          </a:prstGeom>
          <a:solidFill>
            <a:srgbClr val="F4F5F7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A77E4228-C4E1-8410-83AF-486148149118}"/>
              </a:ext>
            </a:extLst>
          </p:cNvPr>
          <p:cNvSpPr/>
          <p:nvPr/>
        </p:nvSpPr>
        <p:spPr>
          <a:xfrm flipH="1">
            <a:off x="6197361" y="3956304"/>
            <a:ext cx="109728" cy="185318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725DAEEE-6986-DE4B-3F34-0C1399BFF552}"/>
              </a:ext>
            </a:extLst>
          </p:cNvPr>
          <p:cNvSpPr/>
          <p:nvPr/>
        </p:nvSpPr>
        <p:spPr>
          <a:xfrm>
            <a:off x="6455685" y="3950350"/>
            <a:ext cx="4831836" cy="280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6B3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Contribution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2B238584-CB67-E600-54EE-AF37B849883C}"/>
              </a:ext>
            </a:extLst>
          </p:cNvPr>
          <p:cNvSpPr/>
          <p:nvPr/>
        </p:nvSpPr>
        <p:spPr>
          <a:xfrm>
            <a:off x="6455685" y="4385576"/>
            <a:ext cx="4831836" cy="133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20000"/>
              </a:lnSpc>
            </a:pPr>
            <a:r>
              <a:rPr lang="en-US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systematic application of ARIMA + LSTM + 1D-CNN to TEFAS pension funds (ALZ/AZS/AMZ) under a multi-seed, multi-window framework — with Majority-Class detection, Balanced Accuracy and Naïve-Baseline comparison built in from the start.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DAFF3907-1AC0-DE89-1706-FC8F2FF52170}"/>
              </a:ext>
            </a:extLst>
          </p:cNvPr>
          <p:cNvSpPr/>
          <p:nvPr/>
        </p:nvSpPr>
        <p:spPr>
          <a:xfrm>
            <a:off x="850890" y="873760"/>
            <a:ext cx="3639830" cy="70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Literature Review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3" name="Shape 23">
            <a:extLst>
              <a:ext uri="{FF2B5EF4-FFF2-40B4-BE49-F238E27FC236}">
                <a16:creationId xmlns:a16="http://schemas.microsoft.com/office/drawing/2014/main" id="{96239A07-F045-3388-37BB-8087CDD2C218}"/>
              </a:ext>
            </a:extLst>
          </p:cNvPr>
          <p:cNvSpPr/>
          <p:nvPr/>
        </p:nvSpPr>
        <p:spPr>
          <a:xfrm>
            <a:off x="6197361" y="1738352"/>
            <a:ext cx="109728" cy="185318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9" name="TextBox 4">
            <a:extLst>
              <a:ext uri="{FF2B5EF4-FFF2-40B4-BE49-F238E27FC236}">
                <a16:creationId xmlns:a16="http://schemas.microsoft.com/office/drawing/2014/main" id="{A90115BE-04EE-BA16-D8C5-2D19062928CD}"/>
              </a:ext>
            </a:extLst>
          </p:cNvPr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</p:spTree>
    <p:extLst>
      <p:ext uri="{BB962C8B-B14F-4D97-AF65-F5344CB8AC3E}">
        <p14:creationId xmlns:p14="http://schemas.microsoft.com/office/powerpoint/2010/main" val="257168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g_slide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hape 14">
            <a:extLst>
              <a:ext uri="{FF2B5EF4-FFF2-40B4-BE49-F238E27FC236}">
                <a16:creationId xmlns:a16="http://schemas.microsoft.com/office/drawing/2014/main" id="{C56D7448-AC4B-664C-9E01-59BD38B072DD}"/>
              </a:ext>
            </a:extLst>
          </p:cNvPr>
          <p:cNvSpPr/>
          <p:nvPr/>
        </p:nvSpPr>
        <p:spPr>
          <a:xfrm>
            <a:off x="882795" y="1737360"/>
            <a:ext cx="5090160" cy="1853184"/>
          </a:xfrm>
          <a:prstGeom prst="rect">
            <a:avLst/>
          </a:prstGeom>
          <a:solidFill>
            <a:srgbClr val="F4F5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5BC14941-E477-0EEB-AA7B-6C196879252E}"/>
              </a:ext>
            </a:extLst>
          </p:cNvPr>
          <p:cNvSpPr/>
          <p:nvPr/>
        </p:nvSpPr>
        <p:spPr>
          <a:xfrm flipH="1">
            <a:off x="858760" y="1731406"/>
            <a:ext cx="98094" cy="1853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210456DA-9401-86CF-0D7F-E4B12E21F5E7}"/>
              </a:ext>
            </a:extLst>
          </p:cNvPr>
          <p:cNvSpPr/>
          <p:nvPr/>
        </p:nvSpPr>
        <p:spPr>
          <a:xfrm>
            <a:off x="1048533" y="1731406"/>
            <a:ext cx="4831836" cy="280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Pension Funds?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82D95A64-C758-7B06-76FF-681770162D40}"/>
              </a:ext>
            </a:extLst>
          </p:cNvPr>
          <p:cNvSpPr/>
          <p:nvPr/>
        </p:nvSpPr>
        <p:spPr>
          <a:xfrm>
            <a:off x="1048533" y="2166632"/>
            <a:ext cx="4831836" cy="133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Turkey's TEFAS platform manages billions in pension assets. ALZ, AZS and AMZ represent three distinct risk profiles (low ±2%, medium ±18%, high ±38%). Directional prediction directly impacts retirement income and portfolio-rebalancing decisions.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D5473857-7575-1AC4-CF1A-5A1F6D78D279}"/>
              </a:ext>
            </a:extLst>
          </p:cNvPr>
          <p:cNvSpPr/>
          <p:nvPr/>
        </p:nvSpPr>
        <p:spPr>
          <a:xfrm>
            <a:off x="882795" y="3956304"/>
            <a:ext cx="5090160" cy="1853184"/>
          </a:xfrm>
          <a:prstGeom prst="rect">
            <a:avLst/>
          </a:prstGeom>
          <a:solidFill>
            <a:srgbClr val="F4F5F7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39993A79-8518-4458-C22F-009F75F7B4F9}"/>
              </a:ext>
            </a:extLst>
          </p:cNvPr>
          <p:cNvSpPr/>
          <p:nvPr/>
        </p:nvSpPr>
        <p:spPr>
          <a:xfrm flipH="1">
            <a:off x="850890" y="3956304"/>
            <a:ext cx="98094" cy="185318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CE41970B-FF1C-5FF5-3235-880BBD9F6781}"/>
              </a:ext>
            </a:extLst>
          </p:cNvPr>
          <p:cNvSpPr/>
          <p:nvPr/>
        </p:nvSpPr>
        <p:spPr>
          <a:xfrm>
            <a:off x="1048533" y="3950350"/>
            <a:ext cx="4831836" cy="280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6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Adapted Methodology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EDDE6FDA-BFFF-7883-A1C7-BA80528991EB}"/>
              </a:ext>
            </a:extLst>
          </p:cNvPr>
          <p:cNvSpPr/>
          <p:nvPr/>
        </p:nvSpPr>
        <p:spPr>
          <a:xfrm>
            <a:off x="1048533" y="4385576"/>
            <a:ext cx="4831836" cy="133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Van der Burgt (2023) NASDAQ-100 framework extended to weekly TEFAS data: multi-seed (23/27/98), rolling windows (In∈{2,4,6}, Out∈{1,3,5}), 3 feature sets (full · technical · closing), Majority-Class detection and Naïve-Baseline comparison.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Shape 22">
            <a:extLst>
              <a:ext uri="{FF2B5EF4-FFF2-40B4-BE49-F238E27FC236}">
                <a16:creationId xmlns:a16="http://schemas.microsoft.com/office/drawing/2014/main" id="{30D0D417-3384-03AB-7C65-8B9F3F6CEDD3}"/>
              </a:ext>
            </a:extLst>
          </p:cNvPr>
          <p:cNvSpPr/>
          <p:nvPr/>
        </p:nvSpPr>
        <p:spPr>
          <a:xfrm>
            <a:off x="6289947" y="1737360"/>
            <a:ext cx="5090160" cy="1853184"/>
          </a:xfrm>
          <a:prstGeom prst="rect">
            <a:avLst/>
          </a:prstGeom>
          <a:solidFill>
            <a:srgbClr val="F4F5F7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FD2710F9-7813-74F8-E68C-2E5C431AAF87}"/>
              </a:ext>
            </a:extLst>
          </p:cNvPr>
          <p:cNvSpPr/>
          <p:nvPr/>
        </p:nvSpPr>
        <p:spPr>
          <a:xfrm>
            <a:off x="6455685" y="1731406"/>
            <a:ext cx="4831836" cy="280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151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Gap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5C0BB1FF-3D55-EFCC-9403-9F3C142CE3AF}"/>
              </a:ext>
            </a:extLst>
          </p:cNvPr>
          <p:cNvSpPr/>
          <p:nvPr/>
        </p:nvSpPr>
        <p:spPr>
          <a:xfrm>
            <a:off x="6455685" y="2166632"/>
            <a:ext cx="4831836" cy="133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 work (Karadağ Erdemir &amp; Kırkağaç, 2024; Eşsiz &amp; Ordu, 2024) relies on ARIMA for pension-fund returns. No prior study systematically applies LSTM and 1D-CNN with multi-seed validation to TEFAS pension funds.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Shape 26">
            <a:extLst>
              <a:ext uri="{FF2B5EF4-FFF2-40B4-BE49-F238E27FC236}">
                <a16:creationId xmlns:a16="http://schemas.microsoft.com/office/drawing/2014/main" id="{BD65F757-7C55-AD73-DDBB-04BF35C26F1C}"/>
              </a:ext>
            </a:extLst>
          </p:cNvPr>
          <p:cNvSpPr/>
          <p:nvPr/>
        </p:nvSpPr>
        <p:spPr>
          <a:xfrm>
            <a:off x="6289947" y="3956304"/>
            <a:ext cx="5090160" cy="1853184"/>
          </a:xfrm>
          <a:prstGeom prst="rect">
            <a:avLst/>
          </a:prstGeom>
          <a:solidFill>
            <a:srgbClr val="F4F5F7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A77E4228-C4E1-8410-83AF-486148149118}"/>
              </a:ext>
            </a:extLst>
          </p:cNvPr>
          <p:cNvSpPr/>
          <p:nvPr/>
        </p:nvSpPr>
        <p:spPr>
          <a:xfrm flipH="1">
            <a:off x="6197361" y="3956304"/>
            <a:ext cx="109728" cy="185318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725DAEEE-6986-DE4B-3F34-0C1399BFF552}"/>
              </a:ext>
            </a:extLst>
          </p:cNvPr>
          <p:cNvSpPr/>
          <p:nvPr/>
        </p:nvSpPr>
        <p:spPr>
          <a:xfrm>
            <a:off x="6455685" y="3950350"/>
            <a:ext cx="4831836" cy="280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C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Balanced Accuracy?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2B238584-CB67-E600-54EE-AF37B849883C}"/>
              </a:ext>
            </a:extLst>
          </p:cNvPr>
          <p:cNvSpPr/>
          <p:nvPr/>
        </p:nvSpPr>
        <p:spPr>
          <a:xfrm>
            <a:off x="6455685" y="4385576"/>
            <a:ext cx="4831836" cy="133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is heavily imbalanced (AZS: 8</a:t>
            </a:r>
            <a:r>
              <a:rPr lang="tr-TR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4.85</a:t>
            </a:r>
            <a:r>
              <a:rPr lang="en-US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 Up). Raw accuracy is misleading — always predicting Up gives 8</a:t>
            </a:r>
            <a:r>
              <a:rPr lang="tr-TR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4.85</a:t>
            </a:r>
            <a:r>
              <a:rPr lang="en-US" sz="1100" dirty="0">
                <a:solidFill>
                  <a:srgbClr val="1B2A4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 but captures no Down signal. Balanced Accuracy = (Sensitivity + Specificity) / 2 penalises the Majority-Class illusion and is the primary metric throughout.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DAFF3907-1AC0-DE89-1706-FC8F2FF52170}"/>
              </a:ext>
            </a:extLst>
          </p:cNvPr>
          <p:cNvSpPr/>
          <p:nvPr/>
        </p:nvSpPr>
        <p:spPr>
          <a:xfrm>
            <a:off x="858760" y="947904"/>
            <a:ext cx="10609590" cy="70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i="0" dirty="0">
                <a:solidFill>
                  <a:srgbClr val="0F2A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Motivation — Why BES, Why Directional?</a:t>
            </a:r>
          </a:p>
        </p:txBody>
      </p:sp>
      <p:sp>
        <p:nvSpPr>
          <p:cNvPr id="73" name="Shape 23">
            <a:extLst>
              <a:ext uri="{FF2B5EF4-FFF2-40B4-BE49-F238E27FC236}">
                <a16:creationId xmlns:a16="http://schemas.microsoft.com/office/drawing/2014/main" id="{96239A07-F045-3388-37BB-8087CDD2C218}"/>
              </a:ext>
            </a:extLst>
          </p:cNvPr>
          <p:cNvSpPr/>
          <p:nvPr/>
        </p:nvSpPr>
        <p:spPr>
          <a:xfrm>
            <a:off x="6197361" y="1738352"/>
            <a:ext cx="109728" cy="185318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 sz="11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97168F3D-5D40-E62F-7978-AF1B9F24D181}"/>
              </a:ext>
            </a:extLst>
          </p:cNvPr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</p:spTree>
    <p:extLst>
      <p:ext uri="{BB962C8B-B14F-4D97-AF65-F5344CB8AC3E}">
        <p14:creationId xmlns:p14="http://schemas.microsoft.com/office/powerpoint/2010/main" val="267243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4706" y="988383"/>
            <a:ext cx="9810591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>
                <a:solidFill>
                  <a:srgbClr val="0F2A47"/>
                </a:solidFill>
                <a:latin typeface="Tahoma"/>
                <a:cs typeface="Tahoma"/>
              </a:rPr>
              <a:t>Data &amp; Pension Funds — ALZ / AZS / AMZ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4706" y="1448089"/>
            <a:ext cx="5455920" cy="13506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4706" y="1448089"/>
            <a:ext cx="85249" cy="1350699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43306" y="1693670"/>
            <a:ext cx="852488" cy="818605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3306" y="1915229"/>
            <a:ext cx="852488" cy="37548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ahoma"/>
                <a:cs typeface="Tahoma"/>
              </a:rPr>
              <a:t>ALZ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0587" y="1611810"/>
            <a:ext cx="3495198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F2A47"/>
                </a:solidFill>
                <a:latin typeface="Tahoma"/>
                <a:cs typeface="Tahoma"/>
              </a:rPr>
              <a:t>Low-Risk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0587" y="1898322"/>
            <a:ext cx="3495198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C99A3E"/>
                </a:solidFill>
                <a:latin typeface="Tahoma"/>
                <a:cs typeface="Tahoma"/>
              </a:rPr>
              <a:t>Conservative  •  Swing ± 2 %  •  MC: 27 / 27 MC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0587" y="2143903"/>
            <a:ext cx="3495198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>
                <a:solidFill>
                  <a:srgbClr val="4A5A6A"/>
                </a:solidFill>
                <a:latin typeface="Tahoma"/>
                <a:cs typeface="Tahoma"/>
              </a:rPr>
              <a:t>Allianz Yaşam — Money-market dominant. Almost monotone series.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06" y="2880649"/>
            <a:ext cx="5455920" cy="13506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4706" y="2880649"/>
            <a:ext cx="85249" cy="1350699"/>
          </a:xfrm>
          <a:prstGeom prst="rect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43306" y="3126230"/>
            <a:ext cx="852488" cy="818605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3306" y="3347789"/>
            <a:ext cx="852488" cy="37548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ahoma"/>
                <a:cs typeface="Tahoma"/>
              </a:rPr>
              <a:t>AZS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0587" y="3044370"/>
            <a:ext cx="3495198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F2A47"/>
                </a:solidFill>
                <a:latin typeface="Tahoma"/>
                <a:cs typeface="Tahoma"/>
              </a:rPr>
              <a:t>Medium-Risk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0587" y="3330882"/>
            <a:ext cx="3495198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C99A3E"/>
                </a:solidFill>
                <a:latin typeface="Tahoma"/>
                <a:cs typeface="Tahoma"/>
              </a:rPr>
              <a:t>Mixed  •  Swing ± 18 %  •  MC: 9–13 / 27 MC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0587" y="3576463"/>
            <a:ext cx="3495198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>
                <a:solidFill>
                  <a:srgbClr val="4A5A6A"/>
                </a:solidFill>
                <a:latin typeface="Tahoma"/>
                <a:cs typeface="Tahoma"/>
              </a:rPr>
              <a:t>Mixed equity/debt fund. Moderate volatility, partial signal.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06" y="4313209"/>
            <a:ext cx="5455920" cy="13506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4706" y="4313209"/>
            <a:ext cx="85249" cy="1350699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43306" y="4558790"/>
            <a:ext cx="852488" cy="818605"/>
          </a:xfrm>
          <a:prstGeom prst="ellipse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3306" y="4780349"/>
            <a:ext cx="852488" cy="37548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ahoma"/>
                <a:cs typeface="Tahoma"/>
              </a:rPr>
              <a:t>AMZ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0587" y="4476930"/>
            <a:ext cx="3495198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0F2A47"/>
                </a:solidFill>
                <a:latin typeface="Tahoma"/>
                <a:cs typeface="Tahoma"/>
              </a:rPr>
              <a:t>High-Risk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0587" y="4763442"/>
            <a:ext cx="3495198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1" i="0">
                <a:solidFill>
                  <a:srgbClr val="C99A3E"/>
                </a:solidFill>
                <a:latin typeface="Tahoma"/>
                <a:cs typeface="Tahoma"/>
              </a:rPr>
              <a:t>Equity-Heavy  •  Swing ± 38 %  •  MC: 9–10 / 27 MC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0587" y="5123541"/>
            <a:ext cx="3495198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 dirty="0">
                <a:solidFill>
                  <a:srgbClr val="4A5A6A"/>
                </a:solidFill>
                <a:latin typeface="Tahoma"/>
                <a:cs typeface="Tahoma"/>
              </a:rPr>
              <a:t>High-volatility equity fund — highest learnable directional signal.</a:t>
            </a:r>
          </a:p>
        </p:txBody>
      </p:sp>
      <p:pic>
        <p:nvPicPr>
          <p:cNvPr id="28" name="Picture 27" descr="13_Pie_Class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273" y="1444752"/>
            <a:ext cx="5029200" cy="2500083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407786" y="4040486"/>
            <a:ext cx="5029200" cy="1637211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44946" y="4105975"/>
            <a:ext cx="4754880" cy="32744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C99A3E"/>
                </a:solidFill>
                <a:latin typeface="Tahoma"/>
                <a:cs typeface="Tahoma"/>
              </a:rPr>
              <a:t>DATA 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4946" y="4408859"/>
            <a:ext cx="4754880" cy="10188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dirty="0">
                <a:solidFill>
                  <a:srgbClr val="E9F1F7"/>
                </a:solidFill>
                <a:latin typeface="Tahoma"/>
                <a:cs typeface="Tahoma"/>
              </a:rPr>
              <a:t>Source: </a:t>
            </a:r>
            <a:r>
              <a:rPr sz="1200" b="0" i="0" dirty="0">
                <a:solidFill>
                  <a:srgbClr val="FFFFFF"/>
                </a:solidFill>
                <a:latin typeface="Tahoma"/>
                <a:cs typeface="Tahoma"/>
              </a:rPr>
              <a:t>TEFAS (Turkish Electronic Fund Trading Platform)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 i="0" dirty="0">
                <a:solidFill>
                  <a:srgbClr val="E9F1F7"/>
                </a:solidFill>
                <a:latin typeface="Tahoma"/>
                <a:cs typeface="Tahoma"/>
              </a:rPr>
              <a:t>Period: </a:t>
            </a:r>
            <a:r>
              <a:rPr sz="1200" b="0" i="0" dirty="0">
                <a:solidFill>
                  <a:srgbClr val="FFFFFF"/>
                </a:solidFill>
                <a:latin typeface="Tahoma"/>
                <a:cs typeface="Tahoma"/>
              </a:rPr>
              <a:t>April 2021 – April 2026  (~260 weekly observations)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 i="0" dirty="0">
                <a:solidFill>
                  <a:srgbClr val="E9F1F7"/>
                </a:solidFill>
                <a:latin typeface="Tahoma"/>
                <a:cs typeface="Tahoma"/>
              </a:rPr>
              <a:t>Split: </a:t>
            </a:r>
            <a:r>
              <a:rPr lang="tr-TR" sz="1200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1200" b="0" i="0" dirty="0">
                <a:solidFill>
                  <a:srgbClr val="FFFFFF"/>
                </a:solidFill>
                <a:latin typeface="Tahoma"/>
                <a:cs typeface="Tahoma"/>
              </a:rPr>
              <a:t>0 % train</a:t>
            </a:r>
            <a:r>
              <a:rPr lang="tr-TR" sz="1200" b="0" i="0" dirty="0">
                <a:solidFill>
                  <a:srgbClr val="FFFFFF"/>
                </a:solidFill>
                <a:latin typeface="Tahoma"/>
                <a:cs typeface="Tahoma"/>
              </a:rPr>
              <a:t> /</a:t>
            </a:r>
            <a:r>
              <a:rPr sz="1200" b="0" i="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tr-TR" sz="1200" b="0" i="0" dirty="0">
                <a:solidFill>
                  <a:srgbClr val="FFFFFF"/>
                </a:solidFill>
                <a:latin typeface="Tahoma"/>
                <a:cs typeface="Tahoma"/>
              </a:rPr>
              <a:t>15 % val</a:t>
            </a:r>
            <a:r>
              <a:rPr sz="1200" b="0" i="0" dirty="0">
                <a:solidFill>
                  <a:srgbClr val="FFFFFF"/>
                </a:solidFill>
                <a:latin typeface="Tahoma"/>
                <a:cs typeface="Tahoma"/>
              </a:rPr>
              <a:t> /  </a:t>
            </a:r>
            <a:r>
              <a:rPr lang="tr-TR" sz="1200" dirty="0">
                <a:solidFill>
                  <a:srgbClr val="FFFFFF"/>
                </a:solidFill>
                <a:latin typeface="Tahoma"/>
                <a:cs typeface="Tahoma"/>
              </a:rPr>
              <a:t>15</a:t>
            </a:r>
            <a:r>
              <a:rPr sz="1200" b="0" i="0" dirty="0">
                <a:solidFill>
                  <a:srgbClr val="FFFFFF"/>
                </a:solidFill>
                <a:latin typeface="Tahoma"/>
                <a:cs typeface="Tahoma"/>
              </a:rPr>
              <a:t> % test  (chronological)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1" i="0" dirty="0">
                <a:solidFill>
                  <a:srgbClr val="E9F1F7"/>
                </a:solidFill>
                <a:latin typeface="Tahoma"/>
                <a:cs typeface="Tahoma"/>
              </a:rPr>
              <a:t>Target: </a:t>
            </a:r>
            <a:r>
              <a:rPr sz="1200" b="0" i="0" dirty="0">
                <a:solidFill>
                  <a:srgbClr val="FFFFFF"/>
                </a:solidFill>
                <a:latin typeface="Tahoma"/>
                <a:cs typeface="Tahoma"/>
              </a:rPr>
              <a:t>binary direction (close[t+h] &gt; close[t] ?)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579E2A-1962-6A1B-0777-F310D9FC6709}"/>
              </a:ext>
            </a:extLst>
          </p:cNvPr>
          <p:cNvSpPr/>
          <p:nvPr/>
        </p:nvSpPr>
        <p:spPr>
          <a:xfrm>
            <a:off x="6473988" y="1419641"/>
            <a:ext cx="4962998" cy="217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Figure1 : Two-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Fund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Profile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7080" y="919480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Methodology — Three-Model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pic>
        <p:nvPicPr>
          <p:cNvPr id="7" name="Picture 6" descr="11_Architecture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74" y="1459466"/>
            <a:ext cx="5854886" cy="419408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15760" y="1318816"/>
            <a:ext cx="4572000" cy="12111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15760" y="1318816"/>
            <a:ext cx="91440" cy="1211164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4360" y="1381327"/>
            <a:ext cx="1828800" cy="3516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4A5A6A"/>
                </a:solidFill>
                <a:latin typeface="Tahoma"/>
                <a:cs typeface="Tahoma"/>
              </a:rPr>
              <a:t>ARIMA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4360" y="1709514"/>
            <a:ext cx="1828800" cy="2344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>
                <a:solidFill>
                  <a:srgbClr val="909CAA"/>
                </a:solidFill>
                <a:latin typeface="Tahoma"/>
                <a:cs typeface="Tahoma"/>
              </a:rPr>
              <a:t>Box-Jenkins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3160" y="1459467"/>
            <a:ext cx="237744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4A5A6A"/>
                </a:solidFill>
                <a:latin typeface="Tahoma"/>
                <a:cs typeface="Tahoma"/>
              </a:rPr>
              <a:t>Grid d∈{0,1,2</a:t>
            </a:r>
            <a:r>
              <a:rPr lang="tr-TR" sz="1100" b="0" i="0" dirty="0">
                <a:solidFill>
                  <a:srgbClr val="4A5A6A"/>
                </a:solidFill>
                <a:latin typeface="Tahoma"/>
                <a:cs typeface="Tahoma"/>
              </a:rPr>
              <a:t>,3,4,5</a:t>
            </a:r>
            <a:r>
              <a:rPr sz="1100" b="0" i="0" dirty="0">
                <a:solidFill>
                  <a:srgbClr val="4A5A6A"/>
                </a:solidFill>
                <a:latin typeface="Tahoma"/>
                <a:cs typeface="Tahoma"/>
              </a:rPr>
              <a:t>}, CSS fit
Classical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5760" y="2647189"/>
            <a:ext cx="4572000" cy="12111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15760" y="2647189"/>
            <a:ext cx="91440" cy="1211164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4360" y="2709701"/>
            <a:ext cx="1828800" cy="3516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F2A47"/>
                </a:solidFill>
                <a:latin typeface="Tahoma"/>
                <a:cs typeface="Tahoma"/>
              </a:rPr>
              <a:t>LSTM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4360" y="3037888"/>
            <a:ext cx="1828800" cy="2344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>
                <a:solidFill>
                  <a:srgbClr val="909CAA"/>
                </a:solidFill>
                <a:latin typeface="Tahoma"/>
                <a:cs typeface="Tahoma"/>
              </a:rPr>
              <a:t>Recurrent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3160" y="2787841"/>
            <a:ext cx="2377440" cy="5447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4A5A6A"/>
                </a:solidFill>
                <a:latin typeface="Tahoma"/>
                <a:cs typeface="Tahoma"/>
              </a:rPr>
              <a:t>Adam / </a:t>
            </a:r>
            <a:r>
              <a:rPr lang="tr-TR" sz="1100" dirty="0">
                <a:solidFill>
                  <a:srgbClr val="4A5A6A"/>
                </a:solidFill>
                <a:latin typeface="Tahoma"/>
                <a:cs typeface="Tahoma"/>
              </a:rPr>
              <a:t>SGD</a:t>
            </a:r>
            <a:r>
              <a:rPr sz="1100" b="0" i="0" dirty="0">
                <a:solidFill>
                  <a:srgbClr val="4A5A6A"/>
                </a:solidFill>
                <a:latin typeface="Tahoma"/>
                <a:cs typeface="Tahoma"/>
              </a:rPr>
              <a:t>  •  ReLU/Tanh
Dropout {0, 0.2, 0.4}  •  class_weight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5760" y="3975563"/>
            <a:ext cx="4572000" cy="12111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15760" y="3975563"/>
            <a:ext cx="91440" cy="1211164"/>
          </a:xfrm>
          <a:prstGeom prst="rect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4360" y="4038075"/>
            <a:ext cx="1828800" cy="3516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C99A3E"/>
                </a:solidFill>
                <a:latin typeface="Tahoma"/>
                <a:cs typeface="Tahoma"/>
              </a:rPr>
              <a:t>1D-CNN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4360" y="4366261"/>
            <a:ext cx="1828800" cy="2344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50" b="0" i="1">
                <a:solidFill>
                  <a:srgbClr val="909CAA"/>
                </a:solidFill>
                <a:latin typeface="Tahoma"/>
                <a:cs typeface="Tahoma"/>
              </a:rPr>
              <a:t>Convolutional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3160" y="4116214"/>
            <a:ext cx="2377440" cy="97674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4A5A6A"/>
                </a:solidFill>
                <a:latin typeface="Tahoma"/>
                <a:cs typeface="Tahoma"/>
              </a:rPr>
              <a:t>Filters {32-64-128, 64-128-256}
Kernel 3  •  Dense 64  •  class_weight</a:t>
            </a:r>
            <a:endParaRPr sz="1100" b="0" i="0" dirty="0">
              <a:solidFill>
                <a:srgbClr val="4A5A6A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705600" y="5325176"/>
            <a:ext cx="4572000" cy="507907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842760" y="5321463"/>
            <a:ext cx="4297680" cy="50790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E8C58A"/>
                </a:solidFill>
                <a:latin typeface="Tahoma"/>
                <a:cs typeface="Tahoma"/>
              </a:rPr>
              <a:t>All models share the same 9 (Input × Output) windows and 3-seed protocol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7094" y="955754"/>
            <a:ext cx="980440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Search Space — 81 Configurations per Fund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615" y="1417321"/>
            <a:ext cx="2123440" cy="111830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615" y="1417321"/>
            <a:ext cx="2123438" cy="138938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8302" y="1455790"/>
            <a:ext cx="1564640" cy="71404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400" b="1" i="0">
                <a:solidFill>
                  <a:srgbClr val="0F2A47"/>
                </a:solidFill>
                <a:latin typeface="Tahoma"/>
                <a:cs typeface="Tahom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796" y="2032476"/>
            <a:ext cx="2123434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F2A47"/>
                </a:solidFill>
                <a:latin typeface="Tahoma"/>
                <a:cs typeface="Tahoma"/>
              </a:rPr>
              <a:t>Feature 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614" y="2256633"/>
            <a:ext cx="2123433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 i="1" dirty="0">
                <a:solidFill>
                  <a:srgbClr val="909CAA"/>
                </a:solidFill>
                <a:latin typeface="Tahoma"/>
                <a:cs typeface="Tahoma"/>
              </a:rPr>
              <a:t>closing • technical • full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6255" y="1417321"/>
            <a:ext cx="2123440" cy="111830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16255" y="1417321"/>
            <a:ext cx="2123438" cy="138938"/>
          </a:xfrm>
          <a:prstGeom prst="rect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52942" y="1455790"/>
            <a:ext cx="1564640" cy="71404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400" b="1" i="0" dirty="0">
                <a:solidFill>
                  <a:srgbClr val="C99A3E"/>
                </a:solidFill>
                <a:latin typeface="Tahoma"/>
                <a:cs typeface="Tahoma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7436" y="2032476"/>
            <a:ext cx="2123434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F2A47"/>
                </a:solidFill>
                <a:latin typeface="Tahoma"/>
                <a:cs typeface="Tahoma"/>
              </a:rPr>
              <a:t>(In, Out) 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5861" y="2301842"/>
            <a:ext cx="2123433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 i="1" dirty="0">
                <a:solidFill>
                  <a:srgbClr val="909CAA"/>
                </a:solidFill>
                <a:latin typeface="Tahoma"/>
                <a:cs typeface="Tahoma"/>
              </a:rPr>
              <a:t>(</a:t>
            </a:r>
            <a:r>
              <a:rPr lang="tr-TR" sz="1000" i="1" dirty="0">
                <a:solidFill>
                  <a:srgbClr val="909CAA"/>
                </a:solidFill>
                <a:latin typeface="Tahoma"/>
                <a:cs typeface="Tahoma"/>
              </a:rPr>
              <a:t>2</a:t>
            </a:r>
            <a:r>
              <a:rPr sz="1000" b="0" i="1" dirty="0">
                <a:solidFill>
                  <a:srgbClr val="909CAA"/>
                </a:solidFill>
                <a:latin typeface="Tahoma"/>
                <a:cs typeface="Tahoma"/>
              </a:rPr>
              <a:t>.</a:t>
            </a:r>
            <a:r>
              <a:rPr lang="tr-TR" sz="1000" b="0" i="1" dirty="0">
                <a:solidFill>
                  <a:srgbClr val="909CAA"/>
                </a:solidFill>
                <a:latin typeface="Tahoma"/>
                <a:cs typeface="Tahoma"/>
              </a:rPr>
              <a:t>4</a:t>
            </a:r>
            <a:r>
              <a:rPr sz="1000" b="0" i="1" dirty="0">
                <a:solidFill>
                  <a:srgbClr val="909CAA"/>
                </a:solidFill>
                <a:latin typeface="Tahoma"/>
                <a:cs typeface="Tahoma"/>
              </a:rPr>
              <a:t>.</a:t>
            </a:r>
            <a:r>
              <a:rPr lang="tr-TR" sz="1000" b="0" i="1" dirty="0">
                <a:solidFill>
                  <a:srgbClr val="909CAA"/>
                </a:solidFill>
                <a:latin typeface="Tahoma"/>
                <a:cs typeface="Tahoma"/>
              </a:rPr>
              <a:t>6</a:t>
            </a:r>
            <a:r>
              <a:rPr sz="1000" b="0" i="1" dirty="0">
                <a:solidFill>
                  <a:srgbClr val="909CAA"/>
                </a:solidFill>
                <a:latin typeface="Tahoma"/>
                <a:cs typeface="Tahoma"/>
              </a:rPr>
              <a:t>) × (1.3.</a:t>
            </a:r>
            <a:r>
              <a:rPr lang="tr-TR" sz="1000" b="0" i="1" dirty="0">
                <a:solidFill>
                  <a:srgbClr val="909CAA"/>
                </a:solidFill>
                <a:latin typeface="Tahoma"/>
                <a:cs typeface="Tahoma"/>
              </a:rPr>
              <a:t>5</a:t>
            </a:r>
            <a:r>
              <a:rPr sz="1000" b="0" i="1" dirty="0">
                <a:solidFill>
                  <a:srgbClr val="909CAA"/>
                </a:solidFill>
                <a:latin typeface="Tahoma"/>
                <a:cs typeface="Tahoma"/>
              </a:rPr>
              <a:t>) weeks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0895" y="1417321"/>
            <a:ext cx="2123440" cy="111830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50895" y="1417321"/>
            <a:ext cx="2123438" cy="138938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87582" y="1455790"/>
            <a:ext cx="1564640" cy="71404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400" b="1" i="0">
                <a:solidFill>
                  <a:srgbClr val="2E868C"/>
                </a:solidFill>
                <a:latin typeface="Tahoma"/>
                <a:cs typeface="Tahom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2076" y="2032476"/>
            <a:ext cx="2123434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F2A47"/>
                </a:solidFill>
                <a:latin typeface="Tahoma"/>
                <a:cs typeface="Tahoma"/>
              </a:rPr>
              <a:t>Random Seeds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978" y="2297039"/>
            <a:ext cx="2123433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 i="1" dirty="0">
                <a:solidFill>
                  <a:srgbClr val="909CAA"/>
                </a:solidFill>
                <a:latin typeface="Tahoma"/>
                <a:cs typeface="Tahoma"/>
              </a:rPr>
              <a:t>23 • 27 • 98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5535" y="1417321"/>
            <a:ext cx="2123440" cy="111830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85535" y="1417321"/>
            <a:ext cx="2123438" cy="138938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22222" y="1455790"/>
            <a:ext cx="1564640" cy="71404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400" b="1" i="0">
                <a:solidFill>
                  <a:srgbClr val="C73E1D"/>
                </a:solidFill>
                <a:latin typeface="Tahoma"/>
                <a:cs typeface="Tahoma"/>
              </a:rPr>
              <a:t>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6716" y="2032476"/>
            <a:ext cx="2123434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 i="0">
                <a:solidFill>
                  <a:srgbClr val="0F2A47"/>
                </a:solidFill>
                <a:latin typeface="Tahoma"/>
                <a:cs typeface="Tahoma"/>
              </a:rPr>
              <a:t>Configs / Fund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3694" y="2302616"/>
            <a:ext cx="2123433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 i="1" dirty="0">
                <a:solidFill>
                  <a:srgbClr val="909CAA"/>
                </a:solidFill>
                <a:latin typeface="Tahoma"/>
                <a:cs typeface="Tahoma"/>
              </a:rPr>
              <a:t>3 × 9 × 3</a:t>
            </a:r>
          </a:p>
        </p:txBody>
      </p:sp>
      <p:pic>
        <p:nvPicPr>
          <p:cNvPr id="27" name="Picture 26" descr="16_Search_Space_Spe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65666"/>
            <a:ext cx="6221812" cy="237619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445866" y="3021063"/>
            <a:ext cx="3963102" cy="211898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45866" y="3021062"/>
            <a:ext cx="3963107" cy="307595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45866" y="3108280"/>
            <a:ext cx="3963102" cy="2369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 i="0">
                <a:solidFill>
                  <a:srgbClr val="C99A3E"/>
                </a:solidFill>
                <a:latin typeface="Tahoma"/>
                <a:cs typeface="Tahoma"/>
              </a:rPr>
              <a:t>FEATURE 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8746" y="3415345"/>
            <a:ext cx="3646053" cy="172470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C73E1D"/>
                </a:solidFill>
                <a:latin typeface="Tahoma"/>
                <a:cs typeface="Tahoma"/>
              </a:rPr>
              <a:t>closing</a:t>
            </a:r>
            <a:r>
              <a:rPr sz="1050" b="0" i="1">
                <a:solidFill>
                  <a:srgbClr val="909CAA"/>
                </a:solidFill>
                <a:latin typeface="Tahoma"/>
                <a:cs typeface="Tahoma"/>
              </a:rPr>
              <a:t> — 1 var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50" b="0" i="0">
                <a:solidFill>
                  <a:srgbClr val="4A5A6A"/>
                </a:solidFill>
                <a:latin typeface="Tahoma"/>
                <a:cs typeface="Tahoma"/>
              </a:rPr>
              <a:t>Weekly close only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300" b="1" i="0">
                <a:solidFill>
                  <a:srgbClr val="C99A3E"/>
                </a:solidFill>
                <a:latin typeface="Tahoma"/>
                <a:cs typeface="Tahoma"/>
              </a:rPr>
              <a:t>technical</a:t>
            </a:r>
            <a:r>
              <a:rPr sz="1050" b="0" i="1">
                <a:solidFill>
                  <a:srgbClr val="909CAA"/>
                </a:solidFill>
                <a:latin typeface="Tahoma"/>
                <a:cs typeface="Tahoma"/>
              </a:rPr>
              <a:t> — 3 vars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50" b="0" i="0">
                <a:solidFill>
                  <a:srgbClr val="4A5A6A"/>
                </a:solidFill>
                <a:latin typeface="Tahoma"/>
                <a:cs typeface="Tahoma"/>
              </a:rPr>
              <a:t>RSI(14) • MACD • Momentum(10)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300" b="1" i="0">
                <a:solidFill>
                  <a:srgbClr val="2E868C"/>
                </a:solidFill>
                <a:latin typeface="Tahoma"/>
                <a:cs typeface="Tahoma"/>
              </a:rPr>
              <a:t>full</a:t>
            </a:r>
            <a:r>
              <a:rPr sz="1050" b="0" i="1">
                <a:solidFill>
                  <a:srgbClr val="909CAA"/>
                </a:solidFill>
                <a:latin typeface="Tahoma"/>
                <a:cs typeface="Tahoma"/>
              </a:rPr>
              <a:t> — 7 vars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050" b="0" i="0">
                <a:solidFill>
                  <a:srgbClr val="4A5A6A"/>
                </a:solidFill>
                <a:latin typeface="Tahoma"/>
                <a:cs typeface="Tahoma"/>
              </a:rPr>
              <a:t>Close, RSI, MACD, EMA12, EMA26,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A5A6A"/>
                </a:solidFill>
                <a:latin typeface="Tahoma"/>
                <a:cs typeface="Tahoma"/>
              </a:rPr>
              <a:t>Momentum, Volatility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517855"/>
            <a:ext cx="10881360" cy="395879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0560" y="5597027"/>
            <a:ext cx="1088136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E8C58A"/>
                </a:solidFill>
                <a:latin typeface="Tahoma"/>
                <a:cs typeface="Tahoma"/>
              </a:rPr>
              <a:t>Training: epochs = 50  •  batch = 16  •  patience = 5 (early stopping)  •  class_weight balancing  •  CSS fit for ARIMA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F24318-03B1-8700-67C7-E7933EA06869}"/>
              </a:ext>
            </a:extLst>
          </p:cNvPr>
          <p:cNvSpPr/>
          <p:nvPr/>
        </p:nvSpPr>
        <p:spPr>
          <a:xfrm>
            <a:off x="670560" y="2812926"/>
            <a:ext cx="6117022" cy="2679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Figure2 : Hardware &amp;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Hyperparameter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088832"/>
            <a:ext cx="10515600" cy="8987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 dirty="0">
                <a:solidFill>
                  <a:srgbClr val="0E2A4D"/>
                </a:solidFill>
                <a:latin typeface="Tahoma"/>
                <a:cs typeface="Tahoma"/>
              </a:rPr>
              <a:t>The Majority-Class</a:t>
            </a:r>
            <a:r>
              <a:rPr lang="tr-TR" sz="5600" b="1" i="0" dirty="0">
                <a:solidFill>
                  <a:srgbClr val="0E2A4D"/>
                </a:solidFill>
                <a:latin typeface="Tahoma"/>
                <a:cs typeface="Tahoma"/>
              </a:rPr>
              <a:t> </a:t>
            </a:r>
            <a:r>
              <a:rPr lang="tr-TR" sz="5600" b="1" i="0" dirty="0" err="1">
                <a:solidFill>
                  <a:srgbClr val="0E2A4D"/>
                </a:solidFill>
                <a:latin typeface="Tahoma"/>
                <a:cs typeface="Tahoma"/>
              </a:rPr>
              <a:t>Illusion</a:t>
            </a:r>
            <a:endParaRPr lang="tr-TR" sz="5600" b="1" dirty="0">
              <a:solidFill>
                <a:srgbClr val="0E2A4D"/>
              </a:solidFill>
              <a:latin typeface="Tahoma"/>
              <a:cs typeface="Tahom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4170521"/>
            <a:ext cx="10515600" cy="40290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 i="1">
                <a:solidFill>
                  <a:srgbClr val="0E2A4D"/>
                </a:solidFill>
                <a:latin typeface="Tahoma"/>
                <a:cs typeface="Tahoma"/>
              </a:rPr>
              <a:t>Why a 90 % accuracy can mean a 0 % learner.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74882"/>
            <a:ext cx="10850880" cy="940117"/>
          </a:xfrm>
          <a:prstGeom prst="roundRect">
            <a:avLst>
              <a:gd name="adj" fmla="val 10000"/>
            </a:avLst>
          </a:prstGeom>
          <a:solidFill>
            <a:srgbClr val="1A3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4774882"/>
            <a:ext cx="91440" cy="940117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842033"/>
            <a:ext cx="2286000" cy="80581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4400" b="1" i="0">
                <a:solidFill>
                  <a:srgbClr val="C81029"/>
                </a:solidFill>
                <a:latin typeface="Tahoma"/>
                <a:cs typeface="Tahoma"/>
              </a:rPr>
              <a:t>27/27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980252"/>
            <a:ext cx="8229600" cy="5293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ahoma"/>
                <a:cs typeface="Tahoma"/>
              </a:rPr>
              <a:t>of ALZ low-risk configurations are majority-class —
perfect-looking accuracy without any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249230"/>
            <a:ext cx="1371600" cy="169277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280" y="961487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The Accuracy Illusion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pic>
        <p:nvPicPr>
          <p:cNvPr id="7" name="Picture 6" descr="01_Accuracy_Ill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" y="1632469"/>
            <a:ext cx="6093149" cy="38033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55235" y="1547053"/>
            <a:ext cx="4206240" cy="3053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C99A3E"/>
                </a:solidFill>
                <a:latin typeface="Tahoma"/>
                <a:cs typeface="Tahoma"/>
              </a:rPr>
              <a:t>MC DEFINITION (broad)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5235" y="1896164"/>
            <a:ext cx="4206240" cy="11450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A configuration is flagged as Majority-Class when </a:t>
            </a:r>
            <a:r>
              <a:rPr sz="1200" b="1" i="0" dirty="0">
                <a:solidFill>
                  <a:srgbClr val="C73E1D"/>
                </a:solidFill>
                <a:latin typeface="Tahoma"/>
                <a:cs typeface="Tahoma"/>
              </a:rPr>
              <a:t>Spec = 0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or </a:t>
            </a:r>
            <a:r>
              <a:rPr sz="1200" b="1" i="0" dirty="0">
                <a:solidFill>
                  <a:srgbClr val="C73E1D"/>
                </a:solidFill>
                <a:latin typeface="Tahoma"/>
                <a:cs typeface="Tahoma"/>
              </a:rPr>
              <a:t>Sens = 0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or </a:t>
            </a:r>
            <a:r>
              <a:rPr sz="1200" b="1" i="0" dirty="0">
                <a:solidFill>
                  <a:srgbClr val="C73E1D"/>
                </a:solidFill>
                <a:latin typeface="Tahoma"/>
                <a:cs typeface="Tahoma"/>
              </a:rPr>
              <a:t>Spec = NA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— the model picks one class on every test sample.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5235" y="2980870"/>
            <a:ext cx="4206240" cy="3053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C99A3E"/>
                </a:solidFill>
                <a:latin typeface="Tahoma"/>
                <a:cs typeface="Tahoma"/>
              </a:rPr>
              <a:t>MC RATES BY FUND ×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5235" y="3286212"/>
            <a:ext cx="4206240" cy="3053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55235" y="3286212"/>
            <a:ext cx="73152" cy="305341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92394" y="3286212"/>
            <a:ext cx="23774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Tahoma"/>
                <a:cs typeface="Tahoma"/>
              </a:rPr>
              <a:t>ALZ • LSTM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115" y="3286212"/>
            <a:ext cx="16916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300" b="1" i="0">
                <a:solidFill>
                  <a:srgbClr val="C73E1D"/>
                </a:solidFill>
                <a:latin typeface="Tahoma"/>
                <a:cs typeface="Tahoma"/>
              </a:rPr>
              <a:t>27 / 27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5235" y="3637354"/>
            <a:ext cx="4206240" cy="3053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55235" y="3637354"/>
            <a:ext cx="73152" cy="305341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92394" y="3637354"/>
            <a:ext cx="23774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Tahoma"/>
                <a:cs typeface="Tahoma"/>
              </a:rPr>
              <a:t>ALZ • CNN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4115" y="3637354"/>
            <a:ext cx="16916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300" b="1" i="0">
                <a:solidFill>
                  <a:srgbClr val="C73E1D"/>
                </a:solidFill>
                <a:latin typeface="Tahoma"/>
                <a:cs typeface="Tahoma"/>
              </a:rPr>
              <a:t>27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5235" y="3988497"/>
            <a:ext cx="4206240" cy="3053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55235" y="3988497"/>
            <a:ext cx="73152" cy="305341"/>
          </a:xfrm>
          <a:prstGeom prst="rect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92394" y="3988497"/>
            <a:ext cx="23774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Tahoma"/>
                <a:cs typeface="Tahoma"/>
              </a:rPr>
              <a:t>AZS • LSTM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115" y="3988497"/>
            <a:ext cx="16916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300" b="1" i="0">
                <a:solidFill>
                  <a:srgbClr val="C99A3E"/>
                </a:solidFill>
                <a:latin typeface="Tahoma"/>
                <a:cs typeface="Tahoma"/>
              </a:rPr>
              <a:t>13 / 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55235" y="4339640"/>
            <a:ext cx="4206240" cy="3053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055235" y="4339640"/>
            <a:ext cx="73152" cy="305341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92394" y="4339640"/>
            <a:ext cx="23774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Tahoma"/>
                <a:cs typeface="Tahoma"/>
              </a:rPr>
              <a:t>AZS • CNN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115" y="4339640"/>
            <a:ext cx="16916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300" b="1" i="0">
                <a:solidFill>
                  <a:srgbClr val="2E868C"/>
                </a:solidFill>
                <a:latin typeface="Tahoma"/>
                <a:cs typeface="Tahoma"/>
              </a:rPr>
              <a:t>9 / 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55235" y="4690782"/>
            <a:ext cx="4206240" cy="3053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55235" y="4690782"/>
            <a:ext cx="73152" cy="305341"/>
          </a:xfrm>
          <a:prstGeom prst="rect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92394" y="4690782"/>
            <a:ext cx="23774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Tahoma"/>
                <a:cs typeface="Tahoma"/>
              </a:rPr>
              <a:t>AMZ • LSTM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115" y="4690782"/>
            <a:ext cx="16916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300" b="1" i="0">
                <a:solidFill>
                  <a:srgbClr val="C99A3E"/>
                </a:solidFill>
                <a:latin typeface="Tahoma"/>
                <a:cs typeface="Tahoma"/>
              </a:rPr>
              <a:t>10 / 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55235" y="5041925"/>
            <a:ext cx="4206240" cy="3053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055235" y="5041925"/>
            <a:ext cx="73152" cy="305341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92394" y="5041925"/>
            <a:ext cx="23774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Tahoma"/>
                <a:cs typeface="Tahoma"/>
              </a:rPr>
              <a:t>AMZ • CNN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4115" y="5041925"/>
            <a:ext cx="1691640" cy="30534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300" b="1" i="0">
                <a:solidFill>
                  <a:srgbClr val="2E868C"/>
                </a:solidFill>
                <a:latin typeface="Tahoma"/>
                <a:cs typeface="Tahoma"/>
              </a:rPr>
              <a:t>9 / 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2CA55-F9F2-A421-456D-9E2A3B1FB6CD}"/>
              </a:ext>
            </a:extLst>
          </p:cNvPr>
          <p:cNvSpPr/>
          <p:nvPr/>
        </p:nvSpPr>
        <p:spPr>
          <a:xfrm>
            <a:off x="716279" y="1632469"/>
            <a:ext cx="6093149" cy="386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Figure3 : LSTM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Closing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Accuary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8706" y="951431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Finding 1 — 1D-CNN Resists the MC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pic>
        <p:nvPicPr>
          <p:cNvPr id="7" name="Picture 6" descr="06_MC_Resistance_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06" y="1653613"/>
            <a:ext cx="6789534" cy="377891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73454" y="1417320"/>
            <a:ext cx="3703320" cy="1793239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56334" y="1492717"/>
            <a:ext cx="338328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C99A3E"/>
                </a:solidFill>
                <a:latin typeface="Tahoma"/>
                <a:cs typeface="Tahoma"/>
              </a:rPr>
              <a:t>KEY </a:t>
            </a:r>
            <a:r>
              <a:rPr lang="en-US" sz="1100" b="1" i="0" dirty="0">
                <a:solidFill>
                  <a:srgbClr val="C99A3E"/>
                </a:solidFill>
                <a:latin typeface="Tahoma"/>
                <a:cs typeface="Tahoma"/>
              </a:rPr>
              <a:t>CONCLUSION</a:t>
            </a:r>
            <a:endParaRPr sz="1100" b="1" i="0" dirty="0">
              <a:solidFill>
                <a:srgbClr val="C99A3E"/>
              </a:solidFill>
              <a:latin typeface="Tahoma"/>
              <a:cs typeface="Tahom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56334" y="1832008"/>
            <a:ext cx="3383280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E9F1F7"/>
                </a:solidFill>
                <a:latin typeface="Tahoma"/>
                <a:cs typeface="Tahoma"/>
              </a:rPr>
              <a:t>Across AZS and AMZ, 1D-CNN's convolutional inductive bias delivers fewer collapsed predictions than LSTM — a robustness, not just accuracy, win.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73454" y="3742222"/>
            <a:ext cx="3703320" cy="167051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56334" y="3817620"/>
            <a:ext cx="3383280" cy="30159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0F2A47"/>
                </a:solidFill>
                <a:latin typeface="Tahoma"/>
                <a:cs typeface="Tahoma"/>
              </a:rPr>
              <a:t>AT A GLANCE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6334" y="4119211"/>
            <a:ext cx="3383280" cy="15833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2A47"/>
                </a:solidFill>
                <a:latin typeface="Tahoma"/>
                <a:cs typeface="Tahoma"/>
              </a:rPr>
              <a:t>AZS:  </a:t>
            </a:r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CNN </a:t>
            </a:r>
            <a:r>
              <a:rPr sz="1200" b="1" i="0">
                <a:solidFill>
                  <a:srgbClr val="2E868C"/>
                </a:solidFill>
                <a:latin typeface="Tahoma"/>
                <a:cs typeface="Tahoma"/>
              </a:rPr>
              <a:t>9/27</a:t>
            </a:r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  vs  LSTM </a:t>
            </a:r>
            <a:r>
              <a:rPr sz="1200" b="1" i="0">
                <a:solidFill>
                  <a:srgbClr val="C99A3E"/>
                </a:solidFill>
                <a:latin typeface="Tahoma"/>
                <a:cs typeface="Tahoma"/>
              </a:rPr>
              <a:t>13/27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1" i="0">
                <a:solidFill>
                  <a:srgbClr val="0F2A47"/>
                </a:solidFill>
                <a:latin typeface="Tahoma"/>
                <a:cs typeface="Tahoma"/>
              </a:rPr>
              <a:t>AMZ:  </a:t>
            </a:r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CNN </a:t>
            </a:r>
            <a:r>
              <a:rPr sz="1200" b="1" i="0">
                <a:solidFill>
                  <a:srgbClr val="2E868C"/>
                </a:solidFill>
                <a:latin typeface="Tahoma"/>
                <a:cs typeface="Tahoma"/>
              </a:rPr>
              <a:t>9/27</a:t>
            </a:r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  vs  LSTM </a:t>
            </a:r>
            <a:r>
              <a:rPr sz="1200" b="1" i="0">
                <a:solidFill>
                  <a:srgbClr val="C99A3E"/>
                </a:solidFill>
                <a:latin typeface="Tahoma"/>
                <a:cs typeface="Tahoma"/>
              </a:rPr>
              <a:t>10/27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200" b="1" i="0">
                <a:solidFill>
                  <a:srgbClr val="0F2A47"/>
                </a:solidFill>
                <a:latin typeface="Tahoma"/>
                <a:cs typeface="Tahoma"/>
              </a:rPr>
              <a:t>MC drop:</a:t>
            </a:r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 ~</a:t>
            </a:r>
            <a:r>
              <a:rPr sz="1200" b="1" i="0">
                <a:solidFill>
                  <a:srgbClr val="2E868C"/>
                </a:solidFill>
                <a:latin typeface="Tahoma"/>
                <a:cs typeface="Tahoma"/>
              </a:rPr>
              <a:t>15 pp</a:t>
            </a:r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 on AZS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4016B-EF44-48F4-F4A0-0E4EF8692938}"/>
              </a:ext>
            </a:extLst>
          </p:cNvPr>
          <p:cNvSpPr/>
          <p:nvPr/>
        </p:nvSpPr>
        <p:spPr>
          <a:xfrm>
            <a:off x="718706" y="1595822"/>
            <a:ext cx="6644119" cy="2869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Figure4 : MC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Collapses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per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Fund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57174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Finding 2 — Feature Set Drives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pic>
        <p:nvPicPr>
          <p:cNvPr id="7" name="Picture 6" descr="07_Feature_Set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558784"/>
            <a:ext cx="6255877" cy="3740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1417320"/>
            <a:ext cx="4206240" cy="3053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C99A3E"/>
                </a:solidFill>
                <a:latin typeface="Tahoma"/>
                <a:cs typeface="Tahoma"/>
              </a:rPr>
              <a:t>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722661"/>
            <a:ext cx="4206240" cy="916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0" y="1722661"/>
            <a:ext cx="91440" cy="916024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798996"/>
            <a:ext cx="3931920" cy="26717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E868C"/>
                </a:solidFill>
                <a:latin typeface="Tahoma"/>
                <a:cs typeface="Tahoma"/>
              </a:rPr>
              <a:t>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066170"/>
            <a:ext cx="3931920" cy="5343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Tahoma"/>
                <a:cs typeface="Tahoma"/>
              </a:rPr>
              <a:t>best for AMZ LSTM — only configuration where MC = 0/9 with the full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753188"/>
            <a:ext cx="4206240" cy="916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0" y="2753188"/>
            <a:ext cx="91440" cy="916024"/>
          </a:xfrm>
          <a:prstGeom prst="rect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0" y="2829523"/>
            <a:ext cx="3931920" cy="26717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C99A3E"/>
                </a:solidFill>
                <a:latin typeface="Tahoma"/>
                <a:cs typeface="Tahoma"/>
              </a:rPr>
              <a:t>technical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096697"/>
            <a:ext cx="3931920" cy="5343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Tahoma"/>
                <a:cs typeface="Tahoma"/>
              </a:rPr>
              <a:t>best for AZS 1D-CNN — RSI + MACD + Momentum lifts BA to 76.70 %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783715"/>
            <a:ext cx="4206240" cy="916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0" y="3783715"/>
            <a:ext cx="91440" cy="916024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0" y="3860051"/>
            <a:ext cx="3931920" cy="26717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C73E1D"/>
                </a:solidFill>
                <a:latin typeface="Tahoma"/>
                <a:cs typeface="Tahoma"/>
              </a:rPr>
              <a:t>closing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127224"/>
            <a:ext cx="3931920" cy="5343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Tahoma"/>
                <a:cs typeface="Tahoma"/>
              </a:rPr>
              <a:t>fragile — collapses to MC under low volatility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5119584"/>
            <a:ext cx="4206240" cy="419844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79" y="5119584"/>
            <a:ext cx="3931920" cy="4198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1">
                <a:solidFill>
                  <a:srgbClr val="E8C58A"/>
                </a:solidFill>
                <a:latin typeface="Tahoma"/>
                <a:cs typeface="Tahoma"/>
              </a:rPr>
              <a:t>Feature engineering ≠ optional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5D2423-410F-A894-D834-88C809DCB619}"/>
              </a:ext>
            </a:extLst>
          </p:cNvPr>
          <p:cNvSpPr/>
          <p:nvPr/>
        </p:nvSpPr>
        <p:spPr>
          <a:xfrm>
            <a:off x="822959" y="1558783"/>
            <a:ext cx="6255877" cy="5029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Figure5 : MC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Rates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for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Features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6120" y="992318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Finding 3 — Input/Output Window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pic>
        <p:nvPicPr>
          <p:cNvPr id="7" name="Picture 6" descr="24_Window_Sensitivity_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0" y="1691092"/>
            <a:ext cx="6939280" cy="383786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45400" y="1417320"/>
            <a:ext cx="3703320" cy="41221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4000" y="1493655"/>
            <a:ext cx="3383280" cy="3053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F2A47"/>
                </a:solidFill>
                <a:latin typeface="Tahoma"/>
                <a:cs typeface="Tahoma"/>
              </a:rPr>
              <a:t>OPTIMAL 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1913499"/>
            <a:ext cx="3383280" cy="26717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2A47"/>
                </a:solidFill>
                <a:latin typeface="Tahoma"/>
                <a:cs typeface="Tahoma"/>
              </a:rPr>
              <a:t>AMZ • 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2218841"/>
            <a:ext cx="3383280" cy="3053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C99A3E"/>
                </a:solidFill>
                <a:latin typeface="Tahoma"/>
                <a:cs typeface="Tahoma"/>
              </a:rPr>
              <a:t>(2, 3)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0" y="2562350"/>
            <a:ext cx="3383280" cy="2290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4A5A6A"/>
                </a:solidFill>
                <a:latin typeface="Tahoma"/>
                <a:cs typeface="Tahoma"/>
              </a:rPr>
              <a:t>Mean Acc 80.21 %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0" y="3020362"/>
            <a:ext cx="3383280" cy="26717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2A47"/>
                </a:solidFill>
                <a:latin typeface="Tahoma"/>
                <a:cs typeface="Tahoma"/>
              </a:rPr>
              <a:t>AZS • CNN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000" y="3325703"/>
            <a:ext cx="3383280" cy="3053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C99A3E"/>
                </a:solidFill>
                <a:latin typeface="Tahoma"/>
                <a:cs typeface="Tahoma"/>
              </a:rPr>
              <a:t>(4, 3)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4000" y="3669212"/>
            <a:ext cx="3383280" cy="2290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4A5A6A"/>
                </a:solidFill>
                <a:latin typeface="Tahoma"/>
                <a:cs typeface="Tahoma"/>
              </a:rPr>
              <a:t>Mean Acc 75.56 %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0" y="4127224"/>
            <a:ext cx="3383280" cy="26717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2A47"/>
                </a:solidFill>
                <a:latin typeface="Tahoma"/>
                <a:cs typeface="Tahoma"/>
              </a:rPr>
              <a:t>ALZ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0" y="4432566"/>
            <a:ext cx="3383280" cy="3053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C99A3E"/>
                </a:solidFill>
                <a:latin typeface="Tahoma"/>
                <a:cs typeface="Tahoma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4000" y="4776075"/>
            <a:ext cx="3383280" cy="2290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4A5A6A"/>
                </a:solidFill>
                <a:latin typeface="Tahoma"/>
                <a:cs typeface="Tahoma"/>
              </a:rPr>
              <a:t>Any (collapses to MC)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74000" y="5043248"/>
            <a:ext cx="3246120" cy="381676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65440" y="5043248"/>
            <a:ext cx="3108960" cy="3816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1">
                <a:solidFill>
                  <a:srgbClr val="E8C58A"/>
                </a:solidFill>
                <a:latin typeface="Tahoma"/>
                <a:cs typeface="Tahoma"/>
              </a:rPr>
              <a:t>h = 3 weeks dominates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A69F4-B945-318A-67BB-591659DEA4B3}"/>
              </a:ext>
            </a:extLst>
          </p:cNvPr>
          <p:cNvSpPr/>
          <p:nvPr/>
        </p:nvSpPr>
        <p:spPr>
          <a:xfrm>
            <a:off x="706120" y="1745836"/>
            <a:ext cx="6761480" cy="2224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Figure6 :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Input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Window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Sensitivity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LSTM+CNN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Pool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1840" y="952728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Finding 4 — Risk Profile Predicts Learnability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pic>
        <p:nvPicPr>
          <p:cNvPr id="7" name="Picture 6" descr="05_Risk_vs_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1722660"/>
            <a:ext cx="6035040" cy="38423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03440" y="1934939"/>
            <a:ext cx="420624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C99A3E"/>
                </a:solidFill>
                <a:latin typeface="Tahoma"/>
                <a:cs typeface="Tahoma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3440" y="2484223"/>
            <a:ext cx="4206240" cy="36640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Low-risk funds (ALZ) are nearly monotone — their direction is degenerate, so deep learners memorise the trend rather than learn it.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Higher volatility (AMZ) creates </a:t>
            </a:r>
            <a:r>
              <a:rPr sz="1200" b="1" i="0">
                <a:solidFill>
                  <a:srgbClr val="0F2A47"/>
                </a:solidFill>
                <a:latin typeface="Tahoma"/>
                <a:cs typeface="Tahoma"/>
              </a:rPr>
              <a:t>genuine class balance</a:t>
            </a:r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, giving the model something to discriminate.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sz="1200" b="1" i="0">
                <a:solidFill>
                  <a:srgbClr val="C99A3E"/>
                </a:solidFill>
                <a:latin typeface="Tahoma"/>
                <a:cs typeface="Tahoma"/>
              </a:rPr>
              <a:t>Bottom line: </a:t>
            </a:r>
            <a:r>
              <a:rPr sz="1200" b="0" i="1">
                <a:solidFill>
                  <a:srgbClr val="0F2A47"/>
                </a:solidFill>
                <a:latin typeface="Tahoma"/>
                <a:cs typeface="Tahoma"/>
              </a:rPr>
              <a:t>directional ML on BES is most useful where conventional advisers say it is hardest.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0360D9-F192-9C28-6614-E73E1B620EF5}"/>
              </a:ext>
            </a:extLst>
          </p:cNvPr>
          <p:cNvSpPr/>
          <p:nvPr/>
        </p:nvSpPr>
        <p:spPr>
          <a:xfrm>
            <a:off x="863600" y="1683479"/>
            <a:ext cx="5965825" cy="502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Figure7 :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Specificity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690706"/>
            <a:ext cx="10515600" cy="8987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 dirty="0">
                <a:solidFill>
                  <a:srgbClr val="0E2A4D"/>
                </a:solidFill>
                <a:latin typeface="Tahoma"/>
                <a:cs typeface="Tahoma"/>
              </a:rPr>
              <a:t>Champion</a:t>
            </a:r>
            <a:r>
              <a:rPr lang="tr-TR" sz="5600" b="1" i="0" dirty="0">
                <a:solidFill>
                  <a:srgbClr val="0E2A4D"/>
                </a:solidFill>
                <a:latin typeface="Tahoma"/>
                <a:cs typeface="Tahoma"/>
              </a:rPr>
              <a:t> Configurations</a:t>
            </a:r>
            <a:endParaRPr sz="5600" b="1" i="0" dirty="0">
              <a:solidFill>
                <a:srgbClr val="0E2A4D"/>
              </a:solidFill>
              <a:latin typeface="Tahoma"/>
              <a:cs typeface="Tahom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5237480"/>
            <a:ext cx="1051560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 i="1" dirty="0">
                <a:solidFill>
                  <a:srgbClr val="0E2A4D"/>
                </a:solidFill>
                <a:latin typeface="Tahoma"/>
                <a:cs typeface="Tahoma"/>
              </a:rPr>
              <a:t>Two statistically-significant directional learners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249229"/>
            <a:ext cx="1371600" cy="169277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886681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Champion 1 — AMZ • LSTM • full • (2,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5 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91803"/>
            <a:ext cx="2011680" cy="8937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491803"/>
            <a:ext cx="2011680" cy="13716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66286"/>
            <a:ext cx="2011680" cy="4841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0F2A47"/>
                </a:solidFill>
                <a:latin typeface="Tahoma"/>
                <a:cs typeface="Tahoma"/>
              </a:rPr>
              <a:t>80.21 %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96287"/>
            <a:ext cx="201168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4A5A6A"/>
                </a:solidFill>
                <a:latin typeface="Tahoma"/>
                <a:cs typeface="Tahoma"/>
              </a:rPr>
              <a:t>Mean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491803"/>
            <a:ext cx="2011680" cy="8937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03320" y="1491803"/>
            <a:ext cx="2011680" cy="137160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566286"/>
            <a:ext cx="2011680" cy="4841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2E868C"/>
                </a:solidFill>
                <a:latin typeface="Tahoma"/>
                <a:cs typeface="Tahoma"/>
              </a:rPr>
              <a:t>84.86 %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96287"/>
            <a:ext cx="201168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4A5A6A"/>
                </a:solidFill>
                <a:latin typeface="Tahoma"/>
                <a:cs typeface="Tahoma"/>
              </a:rPr>
              <a:t>Balanced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491803"/>
            <a:ext cx="2011680" cy="8937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37960" y="1491803"/>
            <a:ext cx="2011680" cy="137160"/>
          </a:xfrm>
          <a:prstGeom prst="rect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566286"/>
            <a:ext cx="2011680" cy="4841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C99A3E"/>
                </a:solidFill>
                <a:latin typeface="Tahoma"/>
                <a:cs typeface="Tahoma"/>
              </a:rPr>
              <a:t>89.36 %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096287"/>
            <a:ext cx="201168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4A5A6A"/>
                </a:solidFill>
                <a:latin typeface="Tahoma"/>
                <a:cs typeface="Tahoma"/>
              </a:rPr>
              <a:t>F1-Score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491803"/>
            <a:ext cx="2011680" cy="8937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72600" y="1491803"/>
            <a:ext cx="2011680" cy="137160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1566286"/>
            <a:ext cx="2011680" cy="4841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C73E1D"/>
                </a:solidFill>
                <a:latin typeface="Tahoma"/>
                <a:cs typeface="Tahoma"/>
              </a:rPr>
              <a:t>0.0001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096287"/>
            <a:ext cx="201168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4A5A6A"/>
                </a:solidFill>
                <a:latin typeface="Tahoma"/>
                <a:cs typeface="Tahoma"/>
              </a:rPr>
              <a:t>p-value (binomial)</a:t>
            </a:r>
          </a:p>
        </p:txBody>
      </p:sp>
      <p:pic>
        <p:nvPicPr>
          <p:cNvPr id="23" name="Picture 22" descr="14_AMZ_LSTM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34567"/>
            <a:ext cx="5455920" cy="325082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537960" y="2683534"/>
            <a:ext cx="4432515" cy="171311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2758018"/>
            <a:ext cx="4159745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F2A47"/>
                </a:solidFill>
                <a:latin typeface="Tahoma"/>
                <a:cs typeface="Tahoma"/>
              </a:rPr>
              <a:t>PER-METRIC BREAKDOWN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055950"/>
            <a:ext cx="4159745" cy="137793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4A5A6A"/>
                </a:solidFill>
                <a:latin typeface="Tahoma"/>
                <a:cs typeface="Tahoma"/>
              </a:rPr>
              <a:t>Sensitivity </a:t>
            </a:r>
            <a:r>
              <a:rPr sz="1250" b="1" i="0">
                <a:solidFill>
                  <a:srgbClr val="2E868C"/>
                </a:solidFill>
                <a:latin typeface="Tahoma"/>
                <a:cs typeface="Tahoma"/>
              </a:rPr>
              <a:t>84.00 %  </a:t>
            </a:r>
            <a:r>
              <a:rPr sz="1250" b="1" i="0">
                <a:solidFill>
                  <a:srgbClr val="4A5A6A"/>
                </a:solidFill>
                <a:latin typeface="Tahoma"/>
                <a:cs typeface="Tahoma"/>
              </a:rPr>
              <a:t>•  Specificity </a:t>
            </a:r>
            <a:r>
              <a:rPr sz="1250" b="1" i="0">
                <a:solidFill>
                  <a:srgbClr val="2E868C"/>
                </a:solidFill>
                <a:latin typeface="Tahoma"/>
                <a:cs typeface="Tahoma"/>
              </a:rPr>
              <a:t>85.71 %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 i="1">
                <a:solidFill>
                  <a:srgbClr val="0F2A47"/>
                </a:solidFill>
                <a:latin typeface="Tahoma"/>
                <a:cs typeface="Tahoma"/>
              </a:rPr>
              <a:t>BA = (Sens + Spec) / 2 = (0.84 + 0.8571) / 2 = 0.84855 → 84.86 %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4A5A6A"/>
                </a:solidFill>
                <a:latin typeface="Tahoma"/>
                <a:cs typeface="Tahoma"/>
              </a:rPr>
              <a:t>Seed accuracies: 0.8438 / 0.7188 / 0.8438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1" i="0">
                <a:solidFill>
                  <a:srgbClr val="C73E1D"/>
                </a:solidFill>
                <a:latin typeface="Tahoma"/>
                <a:cs typeface="Tahoma"/>
              </a:rPr>
              <a:t>SD = 7.22 % across seeds </a:t>
            </a:r>
            <a:r>
              <a:rPr sz="1150" b="0" i="1">
                <a:solidFill>
                  <a:srgbClr val="909CAA"/>
                </a:solidFill>
                <a:latin typeface="Tahoma"/>
                <a:cs typeface="Tahoma"/>
              </a:rPr>
              <a:t>(transparently reported)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4508372"/>
            <a:ext cx="4432515" cy="1154489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4545614"/>
            <a:ext cx="4159745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C99A3E"/>
                </a:solidFill>
                <a:latin typeface="Tahoma"/>
                <a:cs typeface="Tahoma"/>
              </a:rPr>
              <a:t>HYPERPARAMETERS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791409"/>
            <a:ext cx="4159745" cy="72705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9F1F7"/>
                </a:solidFill>
                <a:latin typeface="Tahoma"/>
                <a:cs typeface="Tahoma"/>
              </a:rPr>
              <a:t>Optimizer </a:t>
            </a:r>
            <a:r>
              <a:rPr sz="1100" b="0" i="0">
                <a:solidFill>
                  <a:srgbClr val="FFFFFF"/>
                </a:solidFill>
                <a:latin typeface="Tahoma"/>
                <a:cs typeface="Tahoma"/>
              </a:rPr>
              <a:t>Adam</a:t>
            </a:r>
            <a:r>
              <a:rPr sz="1100" b="1" i="0">
                <a:solidFill>
                  <a:srgbClr val="E9F1F7"/>
                </a:solidFill>
                <a:latin typeface="Tahoma"/>
                <a:cs typeface="Tahoma"/>
              </a:rPr>
              <a:t>   •   Activation </a:t>
            </a:r>
            <a:r>
              <a:rPr sz="1100" b="0" i="0">
                <a:solidFill>
                  <a:srgbClr val="FFFFFF"/>
                </a:solidFill>
                <a:latin typeface="Tahoma"/>
                <a:cs typeface="Tahoma"/>
              </a:rPr>
              <a:t>Tanh</a:t>
            </a:r>
            <a:r>
              <a:rPr sz="1100" b="1" i="0">
                <a:solidFill>
                  <a:srgbClr val="E9F1F7"/>
                </a:solidFill>
                <a:latin typeface="Tahoma"/>
                <a:cs typeface="Tahoma"/>
              </a:rPr>
              <a:t>   •   Dropout </a:t>
            </a:r>
            <a:r>
              <a:rPr sz="1100" b="0" i="0">
                <a:solidFill>
                  <a:srgbClr val="FFFFFF"/>
                </a:solidFill>
                <a:latin typeface="Tahoma"/>
                <a:cs typeface="Tahoma"/>
              </a:rPr>
              <a:t>0.4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1" i="0">
                <a:solidFill>
                  <a:srgbClr val="E9F1F7"/>
                </a:solidFill>
                <a:latin typeface="Tahoma"/>
                <a:cs typeface="Tahoma"/>
              </a:rPr>
              <a:t>Epochs </a:t>
            </a:r>
            <a:r>
              <a:rPr sz="1100" b="0" i="0">
                <a:solidFill>
                  <a:srgbClr val="FFFFFF"/>
                </a:solidFill>
                <a:latin typeface="Tahoma"/>
                <a:cs typeface="Tahoma"/>
              </a:rPr>
              <a:t>50</a:t>
            </a:r>
            <a:r>
              <a:rPr sz="1100" b="1" i="0">
                <a:solidFill>
                  <a:srgbClr val="E9F1F7"/>
                </a:solidFill>
                <a:latin typeface="Tahoma"/>
                <a:cs typeface="Tahoma"/>
              </a:rPr>
              <a:t>   •   Batch </a:t>
            </a:r>
            <a:r>
              <a:rPr sz="1100" b="0" i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r>
              <a:rPr sz="1100" b="1" i="0">
                <a:solidFill>
                  <a:srgbClr val="E9F1F7"/>
                </a:solidFill>
                <a:latin typeface="Tahoma"/>
                <a:cs typeface="Tahoma"/>
              </a:rPr>
              <a:t>   •   Patience </a:t>
            </a:r>
            <a:r>
              <a:rPr sz="1100" b="0" i="0">
                <a:solidFill>
                  <a:srgbClr val="FFFFFF"/>
                </a:solidFill>
                <a:latin typeface="Tahoma"/>
                <a:cs typeface="Tahoma"/>
              </a:rPr>
              <a:t>5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1">
                <a:solidFill>
                  <a:srgbClr val="E8C58A"/>
                </a:solidFill>
                <a:latin typeface="Tahoma"/>
                <a:cs typeface="Tahoma"/>
              </a:rPr>
              <a:t>Feature set: full (7 vars)  •  class_weight balanced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78E6AD-4BA1-E5B7-52AE-D093B28DEBA3}"/>
              </a:ext>
            </a:extLst>
          </p:cNvPr>
          <p:cNvSpPr/>
          <p:nvPr/>
        </p:nvSpPr>
        <p:spPr>
          <a:xfrm>
            <a:off x="815340" y="2545268"/>
            <a:ext cx="5227320" cy="2062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Figure8 : AMZ LSTM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Excellence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Radar 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7292" y="967807"/>
            <a:ext cx="960120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Champion 1 — Confusion Matrix &amp; </a:t>
            </a:r>
            <a:r>
              <a:rPr lang="en-US" sz="2400" b="1" i="0" dirty="0">
                <a:solidFill>
                  <a:srgbClr val="0F2A47"/>
                </a:solidFill>
                <a:latin typeface="Tahoma"/>
                <a:cs typeface="Tahoma"/>
              </a:rPr>
              <a:t> </a:t>
            </a:r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16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pic>
        <p:nvPicPr>
          <p:cNvPr id="7" name="Picture 6" descr="10_Confusion_Matrix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48" y="1544033"/>
            <a:ext cx="4926300" cy="39714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37892" y="1583381"/>
            <a:ext cx="5852160" cy="1662309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20772" y="1664469"/>
            <a:ext cx="54864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C99A3E"/>
                </a:solidFill>
                <a:latin typeface="Tahoma"/>
                <a:cs typeface="Tahoma"/>
              </a:rPr>
              <a:t>POOLED MATRIX (N = 96)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0772" y="1988822"/>
            <a:ext cx="5486400" cy="10059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Tahoma"/>
                <a:cs typeface="Tahoma"/>
              </a:rPr>
              <a:t>TP = 63    TN = 18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 i="0">
                <a:solidFill>
                  <a:srgbClr val="E8C58A"/>
                </a:solidFill>
                <a:latin typeface="Tahoma"/>
                <a:cs typeface="Tahoma"/>
              </a:rPr>
              <a:t>FP = 3       FN = 12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0" i="0">
                <a:solidFill>
                  <a:srgbClr val="E9F1F7"/>
                </a:solidFill>
                <a:latin typeface="Tahoma"/>
                <a:cs typeface="Tahoma"/>
              </a:rPr>
              <a:t>Diagonal: 63 + 18 = 81  →  Pooled Acc = 81/96 = </a:t>
            </a:r>
            <a:r>
              <a:rPr sz="1300" b="1" i="0">
                <a:solidFill>
                  <a:srgbClr val="E8C58A"/>
                </a:solidFill>
                <a:latin typeface="Tahoma"/>
                <a:cs typeface="Tahoma"/>
              </a:rPr>
              <a:t>84.38 %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7892" y="3367323"/>
            <a:ext cx="5852160" cy="23921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20772" y="3448411"/>
            <a:ext cx="54864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0F2A47"/>
                </a:solidFill>
                <a:latin typeface="Tahoma"/>
                <a:cs typeface="Tahoma"/>
              </a:rPr>
              <a:t>R</a:t>
            </a:r>
            <a:r>
              <a:rPr sz="1200" b="1" i="0" dirty="0">
                <a:solidFill>
                  <a:srgbClr val="0F2A47"/>
                </a:solidFill>
                <a:latin typeface="Tahoma"/>
                <a:cs typeface="Tahoma"/>
              </a:rPr>
              <a:t>EPORTING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0772" y="3772765"/>
            <a:ext cx="5486400" cy="184800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Two valid summaries of the same evaluation: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300" b="1" i="0" dirty="0">
                <a:solidFill>
                  <a:srgbClr val="0F2A47"/>
                </a:solidFill>
                <a:latin typeface="Tahoma"/>
                <a:cs typeface="Tahoma"/>
              </a:rPr>
              <a:t>Pooled accuracy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= 81 / 96 = 84.38 %  (concatenated test sets)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1" i="0" dirty="0">
                <a:solidFill>
                  <a:srgbClr val="0F2A47"/>
                </a:solidFill>
                <a:latin typeface="Tahoma"/>
                <a:cs typeface="Tahoma"/>
              </a:rPr>
              <a:t>3-seed mean accuracy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=</a:t>
            </a:r>
            <a:r>
              <a:rPr lang="tr-TR" sz="1200" b="0" i="0" dirty="0">
                <a:solidFill>
                  <a:srgbClr val="4A5A6A"/>
                </a:solidFill>
                <a:latin typeface="Tahoma"/>
                <a:cs typeface="Tahoma"/>
              </a:rPr>
              <a:t> 77 / 96 =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80.21 %  (mean of {0.8438, 0.7188, 0.8438})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We adopt the </a:t>
            </a:r>
            <a:r>
              <a:rPr sz="1200" b="1" i="0" dirty="0">
                <a:solidFill>
                  <a:srgbClr val="2E868C"/>
                </a:solidFill>
                <a:latin typeface="Tahoma"/>
                <a:cs typeface="Tahoma"/>
              </a:rPr>
              <a:t>3-seed mean 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as the headline </a:t>
            </a:r>
            <a:r>
              <a:rPr lang="en-US" sz="1200" b="0" i="0" dirty="0">
                <a:solidFill>
                  <a:srgbClr val="4A5A6A"/>
                </a:solidFill>
                <a:latin typeface="Tahoma"/>
                <a:cs typeface="Tahoma"/>
              </a:rPr>
              <a:t>Figure :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200" b="0" i="1" dirty="0">
                <a:solidFill>
                  <a:srgbClr val="909CAA"/>
                </a:solidFill>
                <a:latin typeface="Tahoma"/>
                <a:cs typeface="Tahoma"/>
              </a:rPr>
              <a:t>Pooled is exposed for full transparency — never as the headline.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1F5A3A-7D88-F374-5D34-4AFFAF9FD2ED}"/>
              </a:ext>
            </a:extLst>
          </p:cNvPr>
          <p:cNvSpPr/>
          <p:nvPr/>
        </p:nvSpPr>
        <p:spPr>
          <a:xfrm>
            <a:off x="801948" y="1516056"/>
            <a:ext cx="4646352" cy="4499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Figure9 : AMZ LSTM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Confusion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Matrix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5055" y="1008740"/>
            <a:ext cx="9472448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Champion 2 — AZS • 1D-CNN • technical • (4,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7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306" y="1635514"/>
            <a:ext cx="1814277" cy="8285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5306" y="1570841"/>
            <a:ext cx="1814277" cy="125604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5306" y="1665939"/>
            <a:ext cx="1814277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0F2A47"/>
                </a:solidFill>
                <a:latin typeface="Tahoma"/>
                <a:cs typeface="Tahoma"/>
              </a:rPr>
              <a:t>75.56 %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06" y="2181329"/>
            <a:ext cx="1814277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 dirty="0">
                <a:solidFill>
                  <a:srgbClr val="4A5A6A"/>
                </a:solidFill>
                <a:latin typeface="Tahoma"/>
                <a:cs typeface="Tahoma"/>
              </a:rPr>
              <a:t>Mean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29946" y="1635514"/>
            <a:ext cx="1814277" cy="8285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29946" y="1570841"/>
            <a:ext cx="1814277" cy="125604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9946" y="1665939"/>
            <a:ext cx="1814277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2E868C"/>
                </a:solidFill>
                <a:latin typeface="Tahoma"/>
                <a:cs typeface="Tahoma"/>
              </a:rPr>
              <a:t>76.70 %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9946" y="2181329"/>
            <a:ext cx="1814277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 dirty="0">
                <a:solidFill>
                  <a:srgbClr val="4A5A6A"/>
                </a:solidFill>
                <a:latin typeface="Tahoma"/>
                <a:cs typeface="Tahoma"/>
              </a:rPr>
              <a:t>Balanced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4586" y="1635514"/>
            <a:ext cx="1814277" cy="8285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64586" y="1570841"/>
            <a:ext cx="1814277" cy="125604"/>
          </a:xfrm>
          <a:prstGeom prst="rect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4586" y="1665939"/>
            <a:ext cx="1814277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C99A3E"/>
                </a:solidFill>
                <a:latin typeface="Tahoma"/>
                <a:cs typeface="Tahoma"/>
              </a:rPr>
              <a:t>88.89 %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4586" y="2181329"/>
            <a:ext cx="1814277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4A5A6A"/>
                </a:solidFill>
                <a:latin typeface="Tahoma"/>
                <a:cs typeface="Tahoma"/>
              </a:rPr>
              <a:t>F1-Score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99226" y="1635514"/>
            <a:ext cx="1814277" cy="8285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99226" y="1570841"/>
            <a:ext cx="1814277" cy="125604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99226" y="1665939"/>
            <a:ext cx="1814277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800" b="1" i="0">
                <a:solidFill>
                  <a:srgbClr val="C73E1D"/>
                </a:solidFill>
                <a:latin typeface="Tahoma"/>
                <a:cs typeface="Tahoma"/>
              </a:rPr>
              <a:t>0.0002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9226" y="2181329"/>
            <a:ext cx="1814277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 i="0">
                <a:solidFill>
                  <a:srgbClr val="4A5A6A"/>
                </a:solidFill>
                <a:latin typeface="Tahoma"/>
                <a:cs typeface="Tahoma"/>
              </a:rPr>
              <a:t>p-value (binomial)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2639395"/>
            <a:ext cx="5122003" cy="319258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5509" y="2671576"/>
            <a:ext cx="4369073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FF9900"/>
                </a:solidFill>
                <a:latin typeface="Tahoma"/>
                <a:cs typeface="Tahoma"/>
              </a:rPr>
              <a:t>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09" y="2920952"/>
            <a:ext cx="4874164" cy="28503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 dirty="0">
                <a:solidFill>
                  <a:srgbClr val="0F2A47"/>
                </a:solidFill>
                <a:latin typeface="Tahoma"/>
                <a:cs typeface="Tahoma"/>
              </a:rPr>
              <a:t>Sens 90.91 %  •  Spec 62.50 %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00" b="0" i="1" dirty="0">
                <a:solidFill>
                  <a:srgbClr val="4A5A6A"/>
                </a:solidFill>
                <a:latin typeface="Tahoma"/>
                <a:cs typeface="Tahoma"/>
              </a:rPr>
              <a:t>BA = (0.9091 + 0.625) / 2 = 0.76705  →  76.70 %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Asymmetric strength: </a:t>
            </a:r>
            <a:r>
              <a:rPr sz="1200" b="1" i="0" dirty="0">
                <a:solidFill>
                  <a:srgbClr val="2E868C"/>
                </a:solidFill>
                <a:latin typeface="Tahoma"/>
                <a:cs typeface="Tahoma"/>
              </a:rPr>
              <a:t>strong recall on "up"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weeks but weaker discrimination on "down" weeks — typical for medium-volatility mixed funds.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sz="1200" b="1" i="0" dirty="0">
                <a:solidFill>
                  <a:srgbClr val="C99A3E"/>
                </a:solidFill>
                <a:latin typeface="Tahoma"/>
                <a:cs typeface="Tahoma"/>
              </a:rPr>
              <a:t>Hyperparameters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Filters 64-128-256  •  Kernel 3  •  Dense 64  •  Dropout 0.2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Feature set </a:t>
            </a:r>
            <a:r>
              <a:rPr sz="1200" b="1" i="0" dirty="0">
                <a:solidFill>
                  <a:srgbClr val="C99A3E"/>
                </a:solidFill>
                <a:latin typeface="Tahoma"/>
                <a:cs typeface="Tahoma"/>
              </a:rPr>
              <a:t>technical 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(RSI, MACD, Momentum)  •  Window (4, 3)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sz="1200" b="1" i="0" dirty="0">
                <a:solidFill>
                  <a:srgbClr val="C99A3E"/>
                </a:solidFill>
                <a:latin typeface="Tahoma"/>
                <a:cs typeface="Tahoma"/>
              </a:rPr>
              <a:t>Seed accuracies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0.7000 / 0.7333 / 0.8333  •  SD 6.94 %</a:t>
            </a:r>
          </a:p>
        </p:txBody>
      </p:sp>
      <p:pic>
        <p:nvPicPr>
          <p:cNvPr id="27" name="Picture 26" descr="04_Balanced_Accuracy_AM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257" y="2822828"/>
            <a:ext cx="4998783" cy="28812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922D677-DADF-FE8D-E080-0E41813F3DB5}"/>
              </a:ext>
            </a:extLst>
          </p:cNvPr>
          <p:cNvSpPr/>
          <p:nvPr/>
        </p:nvSpPr>
        <p:spPr>
          <a:xfrm>
            <a:off x="6564586" y="2845638"/>
            <a:ext cx="4804454" cy="2804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100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Figure10 : </a:t>
            </a:r>
            <a:r>
              <a:rPr lang="tr-TR" sz="1100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Balanced</a:t>
            </a:r>
            <a:r>
              <a:rPr lang="tr-TR" sz="1100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sz="1100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Accuracy</a:t>
            </a:r>
            <a:r>
              <a:rPr lang="tr-TR" sz="1100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sz="1100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Comprasion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58968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Cross-View — Model × Asset Performance 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8 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/ 25</a:t>
            </a:r>
          </a:p>
        </p:txBody>
      </p:sp>
      <p:pic>
        <p:nvPicPr>
          <p:cNvPr id="7" name="Picture 6" descr="03_Model_Asset_Heatmap_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1" y="1759974"/>
            <a:ext cx="6441440" cy="38609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09839" y="1769642"/>
            <a:ext cx="3703320" cy="377688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2719" y="1845039"/>
            <a:ext cx="3383280" cy="30159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0F2A47"/>
                </a:solidFill>
                <a:latin typeface="Tahoma"/>
                <a:cs typeface="Tahoma"/>
              </a:rPr>
              <a:t>READING THE HEATMAP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2719" y="2184330"/>
            <a:ext cx="3383280" cy="31109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Each cell = best Mean Accuracy of any configuration of that (Model, Fund) pair.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sz="1200" b="1" i="0" dirty="0">
                <a:solidFill>
                  <a:srgbClr val="C73E1D"/>
                </a:solidFill>
                <a:latin typeface="Tahoma"/>
                <a:cs typeface="Tahoma"/>
              </a:rPr>
              <a:t>ALZ column = 100 %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: pathological monotone — every model collapses to majority class.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1" i="0" dirty="0">
                <a:solidFill>
                  <a:srgbClr val="2E868C"/>
                </a:solidFill>
                <a:latin typeface="Tahoma"/>
                <a:cs typeface="Tahoma"/>
              </a:rPr>
              <a:t>AMZ × LSTM = 80.21 %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: only configuration above its Out=3 naive (78.79 %).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1" i="0" dirty="0">
                <a:solidFill>
                  <a:srgbClr val="C99A3E"/>
                </a:solidFill>
                <a:latin typeface="Tahoma"/>
                <a:cs typeface="Tahoma"/>
              </a:rPr>
              <a:t>AZS × Naive = 84.85 %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: persistence dominates — CNN champion 75.56 % falls below.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00" b="1" i="0" dirty="0">
                <a:solidFill>
                  <a:srgbClr val="4A5A6A"/>
                </a:solidFill>
                <a:latin typeface="Tahoma"/>
                <a:cs typeface="Tahoma"/>
              </a:rPr>
              <a:t>ARIMA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: </a:t>
            </a:r>
            <a:r>
              <a:rPr lang="tr-TR" sz="1200" dirty="0">
                <a:solidFill>
                  <a:srgbClr val="4A5A6A"/>
                </a:solidFill>
                <a:latin typeface="Tahoma"/>
                <a:cs typeface="Tahoma"/>
              </a:rPr>
              <a:t>dominated by naive on AZS, tied with naive on AMZ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C4C7B5-79BF-4823-88D6-DEA4665A9EC5}"/>
              </a:ext>
            </a:extLst>
          </p:cNvPr>
          <p:cNvSpPr/>
          <p:nvPr/>
        </p:nvSpPr>
        <p:spPr>
          <a:xfrm>
            <a:off x="878841" y="1769642"/>
            <a:ext cx="6441440" cy="192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Figure11 :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Heatmap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Model x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Fund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67347"/>
            <a:ext cx="9601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400" b="1" dirty="0">
                <a:solidFill>
                  <a:srgbClr val="0F2A47"/>
                </a:solidFill>
                <a:latin typeface="Tahoma"/>
                <a:cs typeface="Tahoma"/>
              </a:rPr>
              <a:t>Decision Quality Map — Escape from the MC Sinkhole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19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pic>
        <p:nvPicPr>
          <p:cNvPr id="14" name="Picture 13" descr="FINAL_S21_Picture 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736946"/>
            <a:ext cx="6705600" cy="373219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777480" y="1732587"/>
            <a:ext cx="3520440" cy="3543701"/>
          </a:xfrm>
          <a:prstGeom prst="roundRect">
            <a:avLst/>
          </a:prstGeom>
          <a:solidFill>
            <a:srgbClr val="F4F6FA"/>
          </a:solidFill>
          <a:ln w="9525">
            <a:solidFill>
              <a:srgbClr val="D9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79080" y="1998959"/>
            <a:ext cx="3383280" cy="301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Tahoma"/>
                <a:cs typeface="Tahoma"/>
              </a:rPr>
              <a:t>READING THE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9080" y="2418749"/>
            <a:ext cx="3383280" cy="3543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dirty="0">
                <a:solidFill>
                  <a:srgbClr val="333333"/>
                </a:solidFill>
                <a:latin typeface="Tahoma"/>
                <a:cs typeface="Tahoma"/>
              </a:rPr>
              <a:t>• X-axis: Specificity (ability to predict DOWN).</a:t>
            </a:r>
          </a:p>
          <a:p>
            <a:r>
              <a:rPr sz="1050" dirty="0">
                <a:solidFill>
                  <a:srgbClr val="333333"/>
                </a:solidFill>
                <a:latin typeface="Tahoma"/>
                <a:cs typeface="Tahoma"/>
              </a:rPr>
              <a:t>• Y-axis: Sensitivity (ability to predict UP).</a:t>
            </a:r>
          </a:p>
          <a:p>
            <a:r>
              <a:rPr sz="1050" dirty="0">
                <a:solidFill>
                  <a:srgbClr val="333333"/>
                </a:solidFill>
                <a:latin typeface="Tahoma"/>
                <a:cs typeface="Tahoma"/>
              </a:rPr>
              <a:t>• Top-left red zone = MC Sinkhole — Sens≈1, Spec≈0 (predicts only UP).</a:t>
            </a:r>
          </a:p>
          <a:p>
            <a:r>
              <a:rPr sz="1050" dirty="0">
                <a:solidFill>
                  <a:srgbClr val="333333"/>
                </a:solidFill>
                <a:latin typeface="Tahoma"/>
                <a:cs typeface="Tahoma"/>
              </a:rPr>
              <a:t>• ALZ collapses into the sinkhole on every model — pathological monotone.</a:t>
            </a:r>
          </a:p>
          <a:p>
            <a:r>
              <a:rPr sz="1050" dirty="0">
                <a:solidFill>
                  <a:srgbClr val="333333"/>
                </a:solidFill>
                <a:latin typeface="Tahoma"/>
                <a:cs typeface="Tahoma"/>
              </a:rPr>
              <a:t>• Healthy learning lives in the upper-right quadrant (Sens&gt;0.5 AND Spec&gt;0.5).</a:t>
            </a:r>
          </a:p>
          <a:p>
            <a:r>
              <a:rPr sz="1050" dirty="0">
                <a:solidFill>
                  <a:srgbClr val="333333"/>
                </a:solidFill>
                <a:latin typeface="Tahoma"/>
                <a:cs typeface="Tahoma"/>
              </a:rPr>
              <a:t>• AMZ LSTM (full · In=2 · Out=3) ★ escapes to the champion zone — true bidirectional learning.</a:t>
            </a:r>
          </a:p>
          <a:p>
            <a:r>
              <a:rPr sz="1050" dirty="0">
                <a:solidFill>
                  <a:srgbClr val="333333"/>
                </a:solidFill>
                <a:latin typeface="Tahoma"/>
                <a:cs typeface="Tahoma"/>
              </a:rPr>
              <a:t>• Take-away: high accuracy alone is not learning; only points outside the sinkhole are honest predictions.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6D1391-CFE9-FA3A-AFBB-E42AEF2C5312}"/>
              </a:ext>
            </a:extLst>
          </p:cNvPr>
          <p:cNvSpPr/>
          <p:nvPr/>
        </p:nvSpPr>
        <p:spPr>
          <a:xfrm>
            <a:off x="990600" y="1732587"/>
            <a:ext cx="6705600" cy="396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Figure12 : MC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Sinkhole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3802" y="994313"/>
            <a:ext cx="960120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Seed Stability of Champions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20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pic>
        <p:nvPicPr>
          <p:cNvPr id="7" name="Picture 6" descr="12_Seed_Stability_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1547114"/>
            <a:ext cx="6734048" cy="32900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01000" y="1477173"/>
            <a:ext cx="3108960" cy="3360005"/>
          </a:xfrm>
          <a:prstGeom prst="roundRect">
            <a:avLst>
              <a:gd name="adj" fmla="val 10000"/>
            </a:avLst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3438" y="1859362"/>
            <a:ext cx="276352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C99A3E"/>
                </a:solidFill>
                <a:latin typeface="Tahoma"/>
                <a:cs typeface="Tahoma"/>
              </a:rPr>
              <a:t>STABILITY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8678" y="2145601"/>
            <a:ext cx="2763520" cy="215796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 dirty="0">
                <a:solidFill>
                  <a:srgbClr val="C99A3E"/>
                </a:solidFill>
                <a:latin typeface="Tahoma"/>
                <a:cs typeface="Tahoma"/>
              </a:rPr>
              <a:t>AMZ LSTM:</a:t>
            </a:r>
            <a:r>
              <a:rPr sz="1150" b="0" i="0" dirty="0">
                <a:solidFill>
                  <a:srgbClr val="E9F1F7"/>
                </a:solidFill>
                <a:latin typeface="Tahoma"/>
                <a:cs typeface="Tahoma"/>
              </a:rPr>
              <a:t> 84.38 / 71.88 / 84.38 %  →  SD = 7.22 %.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150" b="1" i="0" dirty="0">
                <a:solidFill>
                  <a:srgbClr val="C99A3E"/>
                </a:solidFill>
                <a:latin typeface="Tahoma"/>
                <a:cs typeface="Tahoma"/>
              </a:rPr>
              <a:t>AZS CNN:</a:t>
            </a:r>
            <a:r>
              <a:rPr sz="1150" b="0" i="0" dirty="0">
                <a:solidFill>
                  <a:srgbClr val="E9F1F7"/>
                </a:solidFill>
                <a:latin typeface="Tahoma"/>
                <a:cs typeface="Tahoma"/>
              </a:rPr>
              <a:t> 70.00 / 73.33 / 83.33 %  →  SD = 6.94 %.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150" b="0" i="0" dirty="0">
                <a:solidFill>
                  <a:srgbClr val="E9F1F7"/>
                </a:solidFill>
                <a:latin typeface="Tahoma"/>
                <a:cs typeface="Tahoma"/>
              </a:rPr>
              <a:t>Both means clear the random-guess line (50 %) at p &lt; 0.001.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lang="en-US" sz="1150" b="1" i="0" dirty="0">
                <a:solidFill>
                  <a:srgbClr val="C99A3E"/>
                </a:solidFill>
                <a:latin typeface="Tahoma"/>
                <a:cs typeface="Tahoma"/>
              </a:rPr>
              <a:t> </a:t>
            </a:r>
            <a:r>
              <a:rPr sz="1150" b="1" i="0" dirty="0">
                <a:solidFill>
                  <a:srgbClr val="C99A3E"/>
                </a:solidFill>
                <a:latin typeface="Tahoma"/>
                <a:cs typeface="Tahoma"/>
              </a:rPr>
              <a:t> note: </a:t>
            </a:r>
            <a:r>
              <a:rPr sz="1150" b="0" i="1" dirty="0">
                <a:solidFill>
                  <a:srgbClr val="E9F1F7"/>
                </a:solidFill>
                <a:latin typeface="Tahoma"/>
                <a:cs typeface="Tahoma"/>
              </a:rPr>
              <a:t>only AMZ LSTM exceeds its Out=3 persistence-naive (78.79 %).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272" y="5098909"/>
            <a:ext cx="2359282" cy="61140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6310" y="5098909"/>
            <a:ext cx="61882" cy="611406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0884" y="5252388"/>
            <a:ext cx="1082949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>
                <a:solidFill>
                  <a:srgbClr val="2E868C"/>
                </a:solidFill>
                <a:latin typeface="Tahoma"/>
                <a:cs typeface="Tahoma"/>
              </a:rPr>
              <a:t>3-seed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7115" y="5273829"/>
            <a:ext cx="1121626" cy="1985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0" i="0">
                <a:solidFill>
                  <a:srgbClr val="4A5A6A"/>
                </a:solidFill>
                <a:latin typeface="Tahoma"/>
                <a:cs typeface="Tahoma"/>
              </a:rPr>
              <a:t>23 · 27 · 98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6632" y="5098909"/>
            <a:ext cx="2359282" cy="61140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86670" y="5098909"/>
            <a:ext cx="61882" cy="611406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51244" y="5252388"/>
            <a:ext cx="1169952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 dirty="0">
                <a:solidFill>
                  <a:srgbClr val="0F2A47"/>
                </a:solidFill>
                <a:latin typeface="Tahoma"/>
                <a:cs typeface="Tahoma"/>
              </a:rPr>
              <a:t>weighted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8585" y="5209501"/>
            <a:ext cx="1121624" cy="3600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0" i="0" dirty="0">
                <a:solidFill>
                  <a:srgbClr val="4A5A6A"/>
                </a:solidFill>
                <a:latin typeface="Tahoma"/>
                <a:cs typeface="Tahoma"/>
              </a:rPr>
              <a:t>class_weight balancing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60831" y="5098909"/>
            <a:ext cx="2359282" cy="61140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60869" y="5098909"/>
            <a:ext cx="61882" cy="611406"/>
          </a:xfrm>
          <a:prstGeom prst="rect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5443" y="5252388"/>
            <a:ext cx="1178415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 dirty="0">
                <a:solidFill>
                  <a:srgbClr val="C99A3E"/>
                </a:solidFill>
                <a:latin typeface="Tahoma"/>
                <a:cs typeface="Tahoma"/>
              </a:rPr>
              <a:t>p &lt; 0.001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4376" y="5209502"/>
            <a:ext cx="1121624" cy="3600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0" i="0" dirty="0">
                <a:solidFill>
                  <a:srgbClr val="4A5A6A"/>
                </a:solidFill>
                <a:latin typeface="Tahoma"/>
                <a:cs typeface="Tahoma"/>
              </a:rPr>
              <a:t>champion significance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2474" y="5089893"/>
            <a:ext cx="2359282" cy="61140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82512" y="5089893"/>
            <a:ext cx="61882" cy="611406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50337" y="5243372"/>
            <a:ext cx="1082949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i="0" dirty="0">
                <a:solidFill>
                  <a:srgbClr val="C73E1D"/>
                </a:solidFill>
                <a:latin typeface="Tahoma"/>
                <a:cs typeface="Tahoma"/>
              </a:rPr>
              <a:t>CSS-fit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9589" y="5256369"/>
            <a:ext cx="1121626" cy="1985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0" i="0" dirty="0">
                <a:solidFill>
                  <a:srgbClr val="4A5A6A"/>
                </a:solidFill>
                <a:latin typeface="Tahoma"/>
                <a:cs typeface="Tahoma"/>
              </a:rPr>
              <a:t>ARIMA stable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A802E8-93A6-F600-C891-8BDA853E3D8F}"/>
              </a:ext>
            </a:extLst>
          </p:cNvPr>
          <p:cNvSpPr/>
          <p:nvPr/>
        </p:nvSpPr>
        <p:spPr>
          <a:xfrm>
            <a:off x="906272" y="1477173"/>
            <a:ext cx="6734048" cy="3122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Figure13 :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Champion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Configurations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Across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3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Seed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972381"/>
            <a:ext cx="960120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Optimizer &amp; Activation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21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pic>
        <p:nvPicPr>
          <p:cNvPr id="7" name="Picture 6" descr="22_Optimizer_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1260"/>
            <a:ext cx="5902960" cy="39395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62800" y="2118360"/>
            <a:ext cx="420624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C99A3E"/>
                </a:solidFill>
                <a:latin typeface="Tahoma"/>
                <a:cs typeface="Tahoma"/>
              </a:rPr>
              <a:t>CONCLUSION</a:t>
            </a:r>
            <a:endParaRPr sz="1200" b="1" i="0" dirty="0">
              <a:solidFill>
                <a:srgbClr val="C99A3E"/>
              </a:solidFill>
              <a:latin typeface="Tahoma"/>
              <a:cs typeface="Tahom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62800" y="2423701"/>
            <a:ext cx="4206240" cy="23937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 dirty="0">
                <a:solidFill>
                  <a:srgbClr val="0F2A47"/>
                </a:solidFill>
                <a:latin typeface="Tahoma"/>
                <a:cs typeface="Tahoma"/>
              </a:rPr>
              <a:t>Adam + Tanh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wins for the AMZ champion — gradient stability matters under high seed-variance.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lang="tr-TR" sz="1300" b="1" dirty="0">
                <a:solidFill>
                  <a:srgbClr val="C99A3E"/>
                </a:solidFill>
                <a:latin typeface="Tahoma"/>
                <a:cs typeface="Tahoma"/>
              </a:rPr>
              <a:t>SGD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competitive on AZS but no statistically significant lift over Adam.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300" b="1" i="0" dirty="0">
                <a:solidFill>
                  <a:srgbClr val="2E868C"/>
                </a:solidFill>
                <a:latin typeface="Tahoma"/>
                <a:cs typeface="Tahoma"/>
              </a:rPr>
              <a:t>Dropout 0.4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— high regularisation helps the small-sample BES regime.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300" b="1" i="0" dirty="0">
                <a:solidFill>
                  <a:srgbClr val="C73E1D"/>
                </a:solidFill>
                <a:latin typeface="Tahoma"/>
                <a:cs typeface="Tahoma"/>
              </a:rPr>
              <a:t>ReLU collapsed</a:t>
            </a:r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 several configurations to MC — inactive units on near-monotone targets.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8596CD-B59B-ECA4-C604-219D94736AD0}"/>
              </a:ext>
            </a:extLst>
          </p:cNvPr>
          <p:cNvSpPr/>
          <p:nvPr/>
        </p:nvSpPr>
        <p:spPr>
          <a:xfrm>
            <a:off x="891226" y="1877590"/>
            <a:ext cx="5711823" cy="3070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Figure14 :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Optimizer</a:t>
            </a:r>
            <a:r>
              <a:rPr lang="tr-TR" dirty="0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 </a:t>
            </a:r>
            <a:r>
              <a:rPr lang="tr-TR" dirty="0" err="1">
                <a:solidFill>
                  <a:srgbClr val="4A5A6A"/>
                </a:solidFill>
                <a:latin typeface="Tahoma"/>
                <a:ea typeface="Tahoma" panose="020B0604030504040204" pitchFamily="34" charset="0"/>
                <a:cs typeface="Tahoma"/>
              </a:rPr>
              <a:t>Stability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7950" y="1037287"/>
            <a:ext cx="8116233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Limitations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5978" y="1679786"/>
            <a:ext cx="4637851" cy="174921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5978" y="1679786"/>
            <a:ext cx="77298" cy="1749214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4578" y="1838958"/>
            <a:ext cx="432866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C73E1D"/>
                </a:solidFill>
                <a:latin typeface="Tahoma"/>
                <a:cs typeface="Tahoma"/>
              </a:rPr>
              <a:t>Sample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4578" y="2316478"/>
            <a:ext cx="4328660" cy="4216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4A5A6A"/>
                </a:solidFill>
                <a:latin typeface="Tahoma"/>
                <a:cs typeface="Tahoma"/>
              </a:rPr>
              <a:t>~260 weekly observations across 5 years — </a:t>
            </a:r>
            <a:r>
              <a:rPr lang="tr-TR" sz="1250" b="0" i="0" dirty="0">
                <a:solidFill>
                  <a:srgbClr val="4A5A6A"/>
                </a:solidFill>
                <a:latin typeface="Tahoma"/>
                <a:cs typeface="Tahoma"/>
              </a:rPr>
              <a:t>small</a:t>
            </a:r>
            <a:r>
              <a:rPr lang="tr-TR" sz="1250" dirty="0">
                <a:solidFill>
                  <a:srgbClr val="4A5A6A"/>
                </a:solidFill>
                <a:latin typeface="Tahoma"/>
                <a:cs typeface="Tahoma"/>
              </a:rPr>
              <a:t>-sample variance dominates</a:t>
            </a:r>
            <a:r>
              <a:rPr sz="1250" b="0" i="0" dirty="0">
                <a:solidFill>
                  <a:srgbClr val="4A5A6A"/>
                </a:solidFill>
                <a:latin typeface="Tahoma"/>
                <a:cs typeface="Tahoma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15258" y="1679786"/>
            <a:ext cx="4637851" cy="174921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15258" y="1679786"/>
            <a:ext cx="77298" cy="1749214"/>
          </a:xfrm>
          <a:prstGeom prst="rect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43858" y="1838958"/>
            <a:ext cx="432866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C99A3E"/>
                </a:solidFill>
                <a:latin typeface="Tahoma"/>
                <a:cs typeface="Tahoma"/>
              </a:rPr>
              <a:t>Pooled vs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3858" y="2316478"/>
            <a:ext cx="4328660" cy="4216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4A5A6A"/>
                </a:solidFill>
                <a:latin typeface="Tahoma"/>
                <a:cs typeface="Tahoma"/>
              </a:rPr>
              <a:t>Pooled accuracy (84.38 %) &gt; 3-seed mean (80.21 %). Mean is the headline; pooled is fully disclosed.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5978" y="3908212"/>
            <a:ext cx="4637851" cy="174921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5978" y="3908212"/>
            <a:ext cx="77298" cy="1749214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4578" y="4067385"/>
            <a:ext cx="432866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0F2A47"/>
                </a:solidFill>
                <a:latin typeface="Tahoma"/>
                <a:cs typeface="Tahoma"/>
              </a:rPr>
              <a:t>Single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4578" y="4544905"/>
            <a:ext cx="4328660" cy="4216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4A5A6A"/>
                </a:solidFill>
                <a:latin typeface="Tahoma"/>
                <a:cs typeface="Tahoma"/>
              </a:rPr>
              <a:t>TEFAS only; cross-market transfer to NASDAQ/EuroStoxx left for future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15258" y="3908212"/>
            <a:ext cx="4637851" cy="174921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15258" y="3908212"/>
            <a:ext cx="77298" cy="1749214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43858" y="4067385"/>
            <a:ext cx="432866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2E868C"/>
                </a:solidFill>
                <a:latin typeface="Tahoma"/>
                <a:cs typeface="Tahoma"/>
              </a:rPr>
              <a:t>Cost-aware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3858" y="4544905"/>
            <a:ext cx="4328660" cy="4216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50" b="0" i="0">
                <a:solidFill>
                  <a:srgbClr val="4A5A6A"/>
                </a:solidFill>
                <a:latin typeface="Tahoma"/>
                <a:cs typeface="Tahoma"/>
              </a:rPr>
              <a:t>Class_weight balancing applied, but not full asymmetric utility (e.g., max-drawdown-aware loss).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2320" y="960551"/>
            <a:ext cx="8849194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 dirty="0">
                <a:solidFill>
                  <a:srgbClr val="0F2A47"/>
                </a:solidFill>
                <a:latin typeface="Tahoma"/>
                <a:cs typeface="Tahoma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3 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040" y="1494770"/>
            <a:ext cx="10281920" cy="9113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5040" y="1494770"/>
            <a:ext cx="84278" cy="911395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3640" y="1687218"/>
            <a:ext cx="589947" cy="490752"/>
          </a:xfrm>
          <a:prstGeom prst="ellipse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3640" y="1802640"/>
            <a:ext cx="589947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ahoma"/>
                <a:cs typeface="Tahom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6601" y="1595012"/>
            <a:ext cx="9102028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F2A47"/>
                </a:solidFill>
                <a:latin typeface="Tahoma"/>
                <a:cs typeface="Tahoma"/>
              </a:rPr>
              <a:t>1D-CNN is more MC-resistant than LSTM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6601" y="1941189"/>
            <a:ext cx="9102028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On AZS and AMZ, convolutional bias yields ~15 pp fewer collapsed configurations.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040" y="2597714"/>
            <a:ext cx="10281920" cy="9113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55040" y="2597714"/>
            <a:ext cx="84278" cy="911395"/>
          </a:xfrm>
          <a:prstGeom prst="rect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3640" y="2790162"/>
            <a:ext cx="589947" cy="490752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3640" y="2905584"/>
            <a:ext cx="589947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ahoma"/>
                <a:cs typeface="Tahom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6601" y="2697956"/>
            <a:ext cx="9102028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F2A47"/>
                </a:solidFill>
                <a:latin typeface="Tahoma"/>
                <a:cs typeface="Tahoma"/>
              </a:rPr>
              <a:t>Risk profile = learnability ceiling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6601" y="3044133"/>
            <a:ext cx="9102028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ALZ (low-risk) is monotone → 27/27 MC across both deep models. AMZ is the clearest signal.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040" y="3700658"/>
            <a:ext cx="10281920" cy="9113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5040" y="3700658"/>
            <a:ext cx="84278" cy="911395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83640" y="3893107"/>
            <a:ext cx="589947" cy="490752"/>
          </a:xfrm>
          <a:prstGeom prst="ellipse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3640" y="4008529"/>
            <a:ext cx="589947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ahoma"/>
                <a:cs typeface="Tahom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6601" y="3800901"/>
            <a:ext cx="9102028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0F2A47"/>
                </a:solidFill>
                <a:latin typeface="Tahoma"/>
                <a:cs typeface="Tahoma"/>
              </a:rPr>
              <a:t>Two statistically significant champions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6601" y="4147078"/>
            <a:ext cx="9102028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4A5A6A"/>
                </a:solidFill>
                <a:latin typeface="Tahoma"/>
                <a:cs typeface="Tahoma"/>
              </a:rPr>
              <a:t>AMZ LSTM (2,3) full → BA 84.86 %, p&lt;0.0001  •  AZS CNN (4,3) tech → BA 76.70 %, p=0.0002.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040" y="4803603"/>
            <a:ext cx="10281920" cy="9113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909C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5040" y="4803603"/>
            <a:ext cx="84278" cy="911395"/>
          </a:xfrm>
          <a:prstGeom prst="rect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83640" y="4996051"/>
            <a:ext cx="589947" cy="490752"/>
          </a:xfrm>
          <a:prstGeom prst="ellipse">
            <a:avLst/>
          </a:prstGeom>
          <a:solidFill>
            <a:srgbClr val="C73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3640" y="5111473"/>
            <a:ext cx="589947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ahoma"/>
                <a:cs typeface="Tahoma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6601" y="4903845"/>
            <a:ext cx="9102028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0F2A47"/>
                </a:solidFill>
                <a:latin typeface="Tahoma"/>
                <a:cs typeface="Tahoma"/>
              </a:rPr>
              <a:t> </a:t>
            </a:r>
            <a:r>
              <a:rPr lang="tr-TR" sz="1600" b="1" dirty="0">
                <a:solidFill>
                  <a:srgbClr val="0F2A47"/>
                </a:solidFill>
                <a:latin typeface="Tahoma"/>
                <a:cs typeface="Tahoma"/>
              </a:rPr>
              <a:t>R</a:t>
            </a:r>
            <a:r>
              <a:rPr sz="1600" b="1" i="0" dirty="0">
                <a:solidFill>
                  <a:srgbClr val="0F2A47"/>
                </a:solidFill>
                <a:latin typeface="Tahoma"/>
                <a:cs typeface="Tahoma"/>
              </a:rPr>
              <a:t>eporting is non-negotiable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06601" y="5250022"/>
            <a:ext cx="9102028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4A5A6A"/>
                </a:solidFill>
                <a:latin typeface="Tahoma"/>
                <a:cs typeface="Tahoma"/>
              </a:rPr>
              <a:t>Mean accuracy as headline, pooled CM disclosed, MC defined broadly (Sens=0 OR Spec=0 OR Spec=NA).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bg_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9641" y="1007182"/>
            <a:ext cx="9811519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400" b="1" i="0">
                <a:solidFill>
                  <a:srgbClr val="0F2A47"/>
                </a:solidFill>
                <a:latin typeface="Tahoma"/>
                <a:cs typeface="Tahoma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67227"/>
            <a:ext cx="1371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lang="tr-TR" sz="1100" b="1" dirty="0">
                <a:solidFill>
                  <a:srgbClr val="FFFFFF"/>
                </a:solidFill>
                <a:latin typeface="Tahoma"/>
                <a:cs typeface="Tahoma"/>
              </a:rPr>
              <a:t>4 </a:t>
            </a: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641" y="1796438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975" y="1788335"/>
            <a:ext cx="4984223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 dirty="0">
                <a:solidFill>
                  <a:srgbClr val="4A5A6A"/>
                </a:solidFill>
                <a:latin typeface="Tahoma"/>
                <a:cs typeface="Tahoma"/>
              </a:rPr>
              <a:t>Van der Burgt, </a:t>
            </a:r>
            <a:r>
              <a:rPr lang="tr-TR" sz="1000" b="0" i="0" dirty="0">
                <a:solidFill>
                  <a:srgbClr val="4A5A6A"/>
                </a:solidFill>
                <a:latin typeface="Tahoma"/>
                <a:cs typeface="Tahoma"/>
              </a:rPr>
              <a:t>J.J</a:t>
            </a:r>
            <a:r>
              <a:rPr sz="1000" b="0" i="0" dirty="0">
                <a:solidFill>
                  <a:srgbClr val="4A5A6A"/>
                </a:solidFill>
                <a:latin typeface="Tahoma"/>
                <a:cs typeface="Tahoma"/>
              </a:rPr>
              <a:t>. (2023). Navigating trends in the digital era: NASDAQ-100 directional forecasting with deep learning. Tilburg University.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641" y="2512718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975" y="2513893"/>
            <a:ext cx="4984223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Tahoma"/>
                <a:cs typeface="Tahoma"/>
              </a:rPr>
              <a:t>Hochreiter, S., &amp; Schmidhuber, J. (1997). Long Short-Term Memory. Neural Computation, 9(8), 1735–1780.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641" y="3228998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970" y="3211197"/>
            <a:ext cx="4984228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Tahoma"/>
                <a:cs typeface="Tahoma"/>
              </a:rPr>
              <a:t>Kim, Y. (2014). Convolutional Neural Networks for Sentence Classification. EMNLP.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641" y="3945278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975" y="3920358"/>
            <a:ext cx="4984223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Tahoma"/>
                <a:cs typeface="Tahoma"/>
              </a:rPr>
              <a:t>Box, G., Jenkins, G. (1976). Time Series Analysis: Forecasting and Control. Holden-Day.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641" y="4661558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975" y="4662733"/>
            <a:ext cx="4984223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Tahoma"/>
                <a:cs typeface="Tahoma"/>
              </a:rPr>
              <a:t>Hyndman, R., Athanasopoulos, G. (2021). Forecasting: Principles and Practice (3rd ed.). OTexts.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641" y="5377838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970" y="5360037"/>
            <a:ext cx="4984228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Tahoma"/>
                <a:cs typeface="Tahoma"/>
              </a:rPr>
              <a:t>Wilder, J. W. (1978). New Concepts in Technical Trading Systems. Trend Research.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0361" y="1796438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[7]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690" y="1778637"/>
            <a:ext cx="4984228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 dirty="0">
                <a:solidFill>
                  <a:srgbClr val="4A5A6A"/>
                </a:solidFill>
                <a:latin typeface="Tahoma"/>
                <a:cs typeface="Tahoma"/>
              </a:rPr>
              <a:t>Appel, G. (2005). Technical Analysis: Power Tools for Active Investors. FT Press.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361" y="2512718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[8]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695" y="2513893"/>
            <a:ext cx="4984223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Tahoma"/>
                <a:cs typeface="Tahoma"/>
              </a:rPr>
              <a:t>Brock, W., Lakonishok, J., LeBaron, B. (1992). Simple technical trading rules and stochastic properties of stock returns. JoF, 47(5).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0361" y="3228998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[9]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695" y="3230173"/>
            <a:ext cx="4984223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 dirty="0">
                <a:solidFill>
                  <a:srgbClr val="4A5A6A"/>
                </a:solidFill>
                <a:latin typeface="Tahoma"/>
                <a:cs typeface="Tahoma"/>
              </a:rPr>
              <a:t>TEFAS (2026). Türkiye Elektronik Fon Alım Satım Platformu — pension fund daily </a:t>
            </a:r>
            <a:r>
              <a:rPr lang="tr-TR" sz="1000" b="0" i="0" dirty="0">
                <a:solidFill>
                  <a:srgbClr val="4A5A6A"/>
                </a:solidFill>
                <a:latin typeface="Tahoma"/>
                <a:cs typeface="Tahoma"/>
              </a:rPr>
              <a:t>  </a:t>
            </a:r>
            <a:r>
              <a:rPr sz="1000" b="0" i="0" dirty="0">
                <a:solidFill>
                  <a:srgbClr val="4A5A6A"/>
                </a:solidFill>
                <a:latin typeface="Tahoma"/>
                <a:cs typeface="Tahoma"/>
              </a:rPr>
              <a:t>NAV. https://www.tefas.gov.tr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0361" y="3915051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[10]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690" y="3927477"/>
            <a:ext cx="4984228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Tahoma"/>
                <a:cs typeface="Tahoma"/>
              </a:rPr>
              <a:t>Allianz Yaşam ve Emeklilik (2026). BES fund prospectuses (ALZ, AZS, AMZ).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0361" y="4631331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[11]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689" y="4671238"/>
            <a:ext cx="4984229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Tahoma"/>
                <a:cs typeface="Tahoma"/>
              </a:rPr>
              <a:t>Chollet, F. (2021). Deep Learning with Python (2nd ed.). Manning.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0361" y="5347611"/>
            <a:ext cx="457269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C99A3E"/>
                </a:solidFill>
                <a:latin typeface="Tahoma"/>
                <a:cs typeface="Tahoma"/>
              </a:rPr>
              <a:t>[12]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690" y="5360037"/>
            <a:ext cx="4984228" cy="1908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Tahoma"/>
                <a:cs typeface="Tahoma"/>
              </a:rPr>
              <a:t>Goodfellow, I., Bengio, Y., Courville, A. (2016). Deep Learning. MIT Press.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g_slid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0" y="5897880"/>
            <a:ext cx="8229600" cy="41148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2200" b="1" i="0">
                <a:solidFill>
                  <a:srgbClr val="0E2A4D"/>
                </a:solidFill>
                <a:latin typeface="Tahoma"/>
                <a:cs typeface="Tahoma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355080"/>
            <a:ext cx="8229600" cy="365760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 algn="ctr"/>
            <a:r>
              <a:rPr sz="1100" b="0" i="1">
                <a:solidFill>
                  <a:srgbClr val="4A4A4A"/>
                </a:solidFill>
                <a:latin typeface="Tahoma"/>
                <a:cs typeface="Tahoma"/>
              </a:rPr>
              <a:t>UYIK-2026  ·  Hacettepe University  ·  Department of Actuarial Sciences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2644</Words>
  <Application>Microsoft Office PowerPoint</Application>
  <PresentationFormat>Widescreen</PresentationFormat>
  <Paragraphs>330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Mehmet ali kurt</cp:lastModifiedBy>
  <cp:revision>38</cp:revision>
  <dcterms:created xsi:type="dcterms:W3CDTF">2013-01-27T09:14:16Z</dcterms:created>
  <dcterms:modified xsi:type="dcterms:W3CDTF">2026-05-06T19:07:35Z</dcterms:modified>
  <cp:category/>
</cp:coreProperties>
</file>