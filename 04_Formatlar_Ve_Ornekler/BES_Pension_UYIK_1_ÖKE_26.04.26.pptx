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comments/comment4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5.xml" ContentType="application/vnd.openxmlformats-officedocument.presentationml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6.xml" ContentType="application/vnd.openxmlformats-officedocument.presentationml.comments+xml"/>
  <Override PartName="/ppt/notesSlides/notesSlide9.xml" ContentType="application/vnd.openxmlformats-officedocument.presentationml.notesSlide+xml"/>
  <Override PartName="/ppt/comments/comment7.xml" ContentType="application/vnd.openxmlformats-officedocument.presentationml.comments+xml"/>
  <Override PartName="/ppt/notesSlides/notesSlide10.xml" ContentType="application/vnd.openxmlformats-officedocument.presentationml.notesSlide+xml"/>
  <Override PartName="/ppt/comments/comment8.xml" ContentType="application/vnd.openxmlformats-officedocument.presentationml.comment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comment9.xml" ContentType="application/vnd.openxmlformats-officedocument.presentationml.comments+xml"/>
  <Override PartName="/ppt/notesSlides/notesSlide14.xml" ContentType="application/vnd.openxmlformats-officedocument.presentationml.notesSlide+xml"/>
  <Override PartName="/ppt/comments/comment10.xml" ContentType="application/vnd.openxmlformats-officedocument.presentationml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omments/comment11.xml" ContentType="application/vnd.openxmlformats-officedocument.presentationml.comment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kem" initials="U" lastIdx="16" clrIdx="0">
    <p:extLst>
      <p:ext uri="{19B8F6BF-5375-455C-9EA6-DF929625EA0E}">
        <p15:presenceInfo xmlns:p15="http://schemas.microsoft.com/office/powerpoint/2012/main" userId="Hakem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1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15:41.754" idx="4">
    <p:pos x="3733" y="906"/>
    <p:text>Abstract ta başlığı değiştirdim...Daha spesifik bir başlık oldu beğendiyseniz burada da güncelleyelim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16:52.565" idx="5">
    <p:pos x="1085" y="326"/>
    <p:text>5,6, 7 ve 8 bold yazılmış...1, 2, 3 ve 4 ü de bold yazalım</p:text>
    <p:extLst>
      <p:ext uri="{C676402C-5697-4E1C-873F-D02D1690AC5C}">
        <p15:threadingInfo xmlns:p15="http://schemas.microsoft.com/office/powerpoint/2012/main" timeZoneBias="-180"/>
      </p:ext>
    </p:extLst>
  </p:cm>
  <p:cm authorId="1" dt="2026-04-26T15:19:59.797" idx="6">
    <p:pos x="487" y="1407"/>
    <p:text>İngilizcesini yazalım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24:54.064" idx="8">
    <p:pos x="487" y="1340"/>
    <p:text>Tüm slaytlarda güncelleyelim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15:08.140" idx="3">
    <p:pos x="3136" y="818"/>
    <p:text>Metinleri sağa sola dayalı yaptım-daha düzgün görünüyor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26:17.385" idx="9">
    <p:pos x="4505" y="862"/>
    <p:text>Direkt CNN desek nasıl olur?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27:50.529" idx="10">
    <p:pos x="1652" y="1451"/>
    <p:text>Buna bir türlü ikna olamıyorum!!!! Başka çalışmalarda var mı %100 bulan??? Baktınız mı??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33:09.349" idx="11">
    <p:pos x="2255" y="589"/>
    <p:text>Bir önceki slayttan sonra bu slayt çok iyi olmuş, aferin, referas varsa bir iki çalışma ekleyebiliriz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36:36.744" idx="12">
    <p:pos x="1121" y="1366"/>
    <p:text>Sunumda farklarını söyleyelim..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37:39.137" idx="13">
    <p:pos x="5691" y="818"/>
    <p:text>Graph 10 diyor....Bir yanlışlık var mı?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38:08.325" idx="14">
    <p:pos x="3108" y="818"/>
    <p:text>Graph 13 diyor...Numaralandırma da bir sorun var gibi</p:text>
    <p:extLst>
      <p:ext uri="{C676402C-5697-4E1C-873F-D02D1690AC5C}">
        <p15:threadingInfo xmlns:p15="http://schemas.microsoft.com/office/powerpoint/2012/main" timeZoneBias="-180"/>
      </p:ext>
    </p:extLst>
  </p:cm>
  <p:cm authorId="1" dt="2026-04-26T15:38:39.354" idx="15">
    <p:pos x="5691" y="818"/>
    <p:text>Ama grafikler çok güzel, Aferin!!!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26T15:39:58.204" idx="16">
    <p:pos x="2987" y="2268"/>
    <p:text>Çalışmanın adı hatalı...Romanian Statisitical Rewiev degisinin tam adını verlim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057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0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01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28600" y="53035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 Uygulamalı İstatistik Kongresi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28600" y="76809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İstanbul, Turkey · May 11–13,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86868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1207008"/>
            <a:ext cx="86868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Assessment of ARIMA, CNN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LSTM in Forecasting Pension</a:t>
            </a:r>
            <a:endParaRPr lang="en-US" sz="2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Fund Returns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28600" y="3035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· 1D-CNN · LSTM on TEFAS Pension Funds (ALZ · AZS · AMZ) · 2021–2026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3401568"/>
            <a:ext cx="5760720" cy="1170432"/>
          </a:xfrm>
          <a:prstGeom prst="rect">
            <a:avLst/>
          </a:prstGeom>
          <a:solidFill>
            <a:srgbClr val="0D1B33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3456432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84048" y="3648456"/>
            <a:ext cx="5394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Şevval Demir · Mehmet Ali Kurt · Övgücan Karadağ Erdemir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3913632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/ Corresponding Author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84048" y="408736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Assist. Prof. Dr. Övgücan Karadağ Erdemir · ovgucan@hacettepe.edu.tr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26480" y="3456432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30000"/>
              </a:lnSpc>
              <a:buNone/>
            </a:pPr>
            <a:r>
              <a:rPr lang="en-US" sz="88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Hacettepe University</a:t>
            </a:r>
            <a:endParaRPr lang="en-US" sz="88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88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Science · Dept. of Actuarial Sciences</a:t>
            </a:r>
            <a:endParaRPr lang="en-US" sz="880" dirty="0"/>
          </a:p>
          <a:p>
            <a:pPr marL="0" indent="0" algn="r">
              <a:lnSpc>
                <a:spcPct val="130000"/>
              </a:lnSpc>
              <a:buNone/>
            </a:pPr>
            <a:r>
              <a:rPr lang="en-US" sz="880" dirty="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Ankara, Turkey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ARIMA to Deep Learning: Evaluating Directional Forecasting in Turkish Pension Funds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984" y="1335024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06424" y="1335024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Introduction &amp; Motivation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14984" y="1737360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106424" y="1737360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Literature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14984" y="2139696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06424" y="2139696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Data &amp; Feature Engineering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4984" y="2542032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06424" y="2542032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Methodology &amp; Architecture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16068" y="1335024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07508" y="1335024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Results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116068" y="1677010"/>
            <a:ext cx="36576" cy="256032"/>
          </a:xfrm>
          <a:prstGeom prst="rect">
            <a:avLst/>
          </a:prstGeom>
          <a:solidFill>
            <a:srgbClr val="3D4F66"/>
          </a:solidFill>
          <a:ln w="12700">
            <a:solidFill>
              <a:srgbClr val="3D4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07508" y="1677010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5.1  ALZ — Majority-Class Control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116068" y="2018995"/>
            <a:ext cx="36576" cy="256032"/>
          </a:xfrm>
          <a:prstGeom prst="rect">
            <a:avLst/>
          </a:prstGeom>
          <a:solidFill>
            <a:srgbClr val="3D4F66"/>
          </a:solidFill>
          <a:ln w="12700">
            <a:solidFill>
              <a:srgbClr val="3D4F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207508" y="2018995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5.2  AZS — Balanced Performance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116068" y="2360981"/>
            <a:ext cx="3657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07508" y="2360981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5.3  AMZ ★ — Key Empirical Finding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16068" y="2702966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207508" y="2702966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Cross-Fund Comparison &amp; Champions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116068" y="3044952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07508" y="3044952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Conclusion &amp; Future Work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116068" y="3386938"/>
            <a:ext cx="3657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07508" y="3386938"/>
            <a:ext cx="3826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References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Introduction &amp; Motivation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pension-fund direction forecasting matters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984" y="1298448"/>
            <a:ext cx="3963924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14984" y="1298448"/>
            <a:ext cx="45720" cy="1417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1371600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Pension Funds?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1645920"/>
            <a:ext cx="37627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Turkey's TEFAS platform manages billions in pension assets. ALZ, AZS and AMZ represent three distinct risk profiles (low ±2%, medium ±18%, high ±38%). Directional prediction directly impacts retirement income and portfolio-rebalancing decisions.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0348" y="1298448"/>
            <a:ext cx="3963924" cy="1417320"/>
          </a:xfrm>
          <a:prstGeom prst="rect">
            <a:avLst/>
          </a:prstGeom>
          <a:solidFill>
            <a:srgbClr val="F4F5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70348" y="1298448"/>
            <a:ext cx="45720" cy="141732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98364" y="1371600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98364" y="1645920"/>
            <a:ext cx="37627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(Karadağ Erdemir &amp; Kırkağaç, 2024; Eşsiz &amp; Ordu, 2024) relies on ARIMA for pension-fund returns. No prior study systematically applies LSTM and 1D-CNN with multi-seed validation to TEFAS pension funds.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014984" y="2807208"/>
            <a:ext cx="3963924" cy="1481328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14984" y="2807208"/>
            <a:ext cx="45720" cy="1481328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43000" y="2880360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Methodology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154680"/>
            <a:ext cx="37627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der Burgt (2023) NASDAQ-100 framework extended to weekly TEFAS data: multi-seed (23/27/98), rolling windows (In∈{2,4,6}, Out∈{1,3,5}), 3 feature sets (full · technical · closing), Majority-Class detection and Naïve-Baseline comparison.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70348" y="2807208"/>
            <a:ext cx="3963924" cy="1481328"/>
          </a:xfrm>
          <a:prstGeom prst="rect">
            <a:avLst/>
          </a:prstGeom>
          <a:solidFill>
            <a:srgbClr val="F4F5F7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70348" y="2807208"/>
            <a:ext cx="45720" cy="1481328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98364" y="2880360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Balanced Accuracy?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8364" y="3154680"/>
            <a:ext cx="376275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heavily imbalanced (AZS: 83% Up). Raw accuracy is misleading — always predicting Up gives 83% but captures no Down signal. Balanced Accuracy = (Sensitivity + Specificity) / 2 penalises the Majority-Class illusion and is the primary metric throughout.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Literature Review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classical time-series to deep sequence models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984" y="1298448"/>
            <a:ext cx="3963924" cy="1572768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14984" y="1298448"/>
            <a:ext cx="45720" cy="15727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43000" y="1371600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ARIMA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1645920"/>
            <a:ext cx="37627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Box-Jenkins ARIMA remains the dominant benchmark in pension-fund return forecasting. Karadağ Erdemir &amp; Kırkağaç (2024) applied ARIMA to Turkish BES pension funds. Eşsiz &amp; Ordu (2024) applied ARIMA to S&amp;P 500 fund baskets. Strong parametric baseline, blind to non-linear structure.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14984" y="2962656"/>
            <a:ext cx="3963924" cy="1572768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14984" y="2962656"/>
            <a:ext cx="45720" cy="1572768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3000" y="3035808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in Finance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" y="3310128"/>
            <a:ext cx="37627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Fischer &amp; Krauss (2018) showed LSTM networks outperform memory-free models on S&amp;P 500 constituents. Siami-Namini et al. (2019) reported LSTM/BiLSTM improvements over ARIMA on economic time-series. 1D-CNN offers a competitive and computationally cheaper alternative (Van der Burgt, 2023).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70348" y="1298448"/>
            <a:ext cx="3963924" cy="1572768"/>
          </a:xfrm>
          <a:prstGeom prst="rect">
            <a:avLst/>
          </a:prstGeom>
          <a:solidFill>
            <a:srgbClr val="F4F5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70348" y="1298448"/>
            <a:ext cx="45720" cy="1572768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98364" y="1371600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 Gap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8364" y="1645920"/>
            <a:ext cx="37627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DL studies frequently report raw accuracy without specificity, sensitivity or baseline comparison. Majority-Class illusion (Spec=0 or Sens=0) is rarely flagged, leading to overstated predictive performance on imbalanced data. This study addresses this gap explicitly.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070348" y="2962656"/>
            <a:ext cx="3963924" cy="1572768"/>
          </a:xfrm>
          <a:prstGeom prst="rect">
            <a:avLst/>
          </a:prstGeom>
          <a:solidFill>
            <a:srgbClr val="F4F5F7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70348" y="2962656"/>
            <a:ext cx="45720" cy="157276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98364" y="3035808"/>
            <a:ext cx="37627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98364" y="3310128"/>
            <a:ext cx="376275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systematic application of ARIMA + LSTM + 1D-CNN to TEFAS pension funds (ALZ/AZS/AMZ) under a multi-seed, multi-window framework — with Majority-Class detection, Balanced Accuracy and Naïve-Baseline comparison built in from the start.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Data &amp; Feature 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TEFAS Pension Fund Data &amp; Feature Engineering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Allianz Yaşam funds · weekly · 2021–2026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4984" y="12984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Studied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" y="1545336"/>
          <a:ext cx="5212080" cy="10134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Name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Volatility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Allianz Yaşam Para Piyasası EYF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Low (Control)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Allianz Yaşam Değişken EYF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— Medium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Allianz Yaşam Hisse Senedi EYF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 — High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2021–2026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±38%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1014984" y="250545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Sets (3 Sets)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" y="2743200"/>
          <a:ext cx="5303520" cy="8839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Vars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★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· RSI · MACD · EMA₁₂ · EMA₂₆ · Momentum · Volatility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RSI · MACD · Momentum (technical-only)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5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price only (baseline feature)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6592824" y="1298448"/>
            <a:ext cx="2441448" cy="3200400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6684264" y="1371600"/>
            <a:ext cx="2258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Search Space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720840" y="170078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Window (In)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6720840" y="188366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4 · 6 weeks of history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720840" y="217627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Horizon (Out)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6720840" y="2359152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3 · 5 weeks ahead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6720840" y="265176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720840" y="2834640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27 · 98 (3-seed average)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6720840" y="312724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6720840" y="3310128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≈183 / 39 / 39 obs · 70/15/15%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720840" y="360273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Evaluations per fund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6720840" y="3785616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sets × 9 combos × 3 seeds = 81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720840" y="407822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720840" y="4261104"/>
            <a:ext cx="2221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→ LOCF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Methodology &amp; Evaluation Framework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Evaluation Framework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models — one rigorous evaluation loop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984" y="1298448"/>
            <a:ext cx="2612136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14984" y="1298448"/>
            <a:ext cx="2612136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24712" y="1344168"/>
            <a:ext cx="2429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4712" y="1572768"/>
            <a:ext cx="2429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Box-Jenkins classical benchmark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24712" y="1847088"/>
            <a:ext cx="2429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Integrated Moving Average. p = q = input window; d ∈ {0..5} via grid search. CSS fitting. Binary direction: Up / Down.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18560" y="1298448"/>
            <a:ext cx="2612136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8560" y="1298448"/>
            <a:ext cx="2612136" cy="45720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28288" y="1344168"/>
            <a:ext cx="2429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28288" y="1572768"/>
            <a:ext cx="2429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recurrent deep network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28288" y="1847088"/>
            <a:ext cx="2429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hidden units, Dropout ∈ {0, 0.2, 0.4}, Binary Cross-Entropy, class-weight balancing (AZS/AMZ), Early Stopping (patience=5).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422136" y="1298448"/>
            <a:ext cx="2612136" cy="1874520"/>
          </a:xfrm>
          <a:prstGeom prst="rect">
            <a:avLst/>
          </a:prstGeom>
          <a:solidFill>
            <a:srgbClr val="F4F5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22136" y="1298448"/>
            <a:ext cx="2612136" cy="45720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31864" y="1344168"/>
            <a:ext cx="2429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1864" y="1572768"/>
            <a:ext cx="2429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E0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Local-pattern convolutions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531864" y="1847088"/>
            <a:ext cx="242925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Conv1D layers → Flatten → Dense → Sigmoid. Extracts local temporal patterns. Batch=16 (small test set). Superior MC resistance vs. LSTM in this study.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14984" y="3291840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4984" y="3584448"/>
            <a:ext cx="1548994" cy="1024128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69848" y="3639312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" y="3840480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(Sens+Spec)/2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69848" y="4041648"/>
            <a:ext cx="14575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 on imbalanced data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632558" y="3584448"/>
            <a:ext cx="1548994" cy="1024128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687422" y="3639312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687422" y="3840480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TP/(TP+FN)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87422" y="4041648"/>
            <a:ext cx="14575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Up moves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250131" y="3584448"/>
            <a:ext cx="1548994" cy="1024128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04995" y="3639312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304995" y="3840480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TN/(TN+FP)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304995" y="4041648"/>
            <a:ext cx="14575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predicted Down moves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867705" y="3584448"/>
            <a:ext cx="1548994" cy="1024128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922569" y="3639312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922569" y="3840480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Binomial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22569" y="4041648"/>
            <a:ext cx="14575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0.05 = significant vs. random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7485278" y="3584448"/>
            <a:ext cx="1548994" cy="1024128"/>
          </a:xfrm>
          <a:prstGeom prst="rect">
            <a:avLst/>
          </a:prstGeom>
          <a:solidFill>
            <a:srgbClr val="FFE8E8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540142" y="3639312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Detection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7540142" y="3840480"/>
            <a:ext cx="14575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Spec=0 OR Sens=0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540142" y="4041648"/>
            <a:ext cx="145755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— no real learning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Methodology — Architecture &amp; Search Space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28380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192024"/>
            <a:ext cx="8019288" cy="612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Search Space Specifications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429767"/>
            <a:ext cx="8019288" cy="51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grid · 81 evaluations per fund · 3-seed cross-validation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834891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sessions/affectionate-friendly-curie/mnt/Proje/04_Gorsel_Portfolyo/11_Architecture_Flowchar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4984" y="910415"/>
            <a:ext cx="4410608" cy="32918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01852" y="4052999"/>
            <a:ext cx="4410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Data → Feature Extraction → Model → Direction Output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5517032" y="763366"/>
            <a:ext cx="3425800" cy="1426464"/>
          </a:xfrm>
          <a:prstGeom prst="rect">
            <a:avLst/>
          </a:prstGeom>
          <a:solidFill>
            <a:srgbClr val="EBF0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526709" y="763366"/>
            <a:ext cx="45720" cy="142646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626760" y="818230"/>
            <a:ext cx="324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Hyperparameters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645048" y="1019398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units: 64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645048" y="1257142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Dropout: {0, 0.2, 0.4}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645048" y="1494886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Loss: Binary Cross-Entropy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645048" y="1732630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weights: balanced (AZS/AMZ)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645048" y="1970374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Stop: patience=5, epochs=100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517032" y="2281270"/>
            <a:ext cx="3425800" cy="1188720"/>
          </a:xfrm>
          <a:prstGeom prst="rect">
            <a:avLst/>
          </a:prstGeom>
          <a:solidFill>
            <a:srgbClr val="EBF0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22518" y="2290414"/>
            <a:ext cx="45720" cy="118872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26760" y="2336134"/>
            <a:ext cx="324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1D-CNN Hyperparameters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45048" y="2537302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3× Conv1D → Flatten → Dense → Sigmoid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645048" y="2775046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size: 16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645048" y="3012790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Activation: ReLU (hidden), Sigmoid (out)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645048" y="3250534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Optimizer: Adam (lr=0.001)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517032" y="3561430"/>
            <a:ext cx="3425800" cy="950976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5517032" y="3561430"/>
            <a:ext cx="45720" cy="95097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626760" y="3616294"/>
            <a:ext cx="324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Configuration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645048" y="3817462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 = q = Input window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645048" y="4055206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 ∈ {0, 1, 2, 3, 4, 5} via grid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45048" y="4292950"/>
            <a:ext cx="3224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Method: CSS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1106425" y="4280092"/>
            <a:ext cx="4245724" cy="31857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262164" y="4422374"/>
            <a:ext cx="408998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Space: 3 funds × 3 feature sets × 9 In/Out combos × 3 seeds = 243 total evaluations (81 per fund)</a:t>
            </a:r>
            <a:endParaRPr lang="en-US" sz="900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47D50CA5-0992-001D-DA64-4C382B8E859E}"/>
              </a:ext>
            </a:extLst>
          </p:cNvPr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ALZ — Low-Risk · Majority-Class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ALZ — Low-Risk Pension Fund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 Para Piyasası EYF · Risk 1 · All feature sets · 2021–2026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222839"/>
              </p:ext>
            </p:extLst>
          </p:nvPr>
        </p:nvGraphicFramePr>
        <p:xfrm>
          <a:off x="1014984" y="1298448"/>
          <a:ext cx="5120640" cy="120701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06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In/Out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(all sets)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(all sets)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⚠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In=2, Out=1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Baseline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100.00 %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Out=1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Image 0" descr="/sessions/affectionate-friendly-curie/mnt/Proje/04_Gorsel_Portfolyo/EN_Graphics/01_Accuracy_Illu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64224" y="1298448"/>
            <a:ext cx="2670048" cy="20299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64224" y="3346704"/>
            <a:ext cx="2670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1: The Accuracy Illusion — High Acc, zero Specificity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1014984" y="2688336"/>
            <a:ext cx="45720" cy="32918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106424" y="2688336"/>
            <a:ext cx="5047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 LSTM + 27 CNN configurations are Majority-Class: every test set contains zero Down observations (Out=1: 37/0, Out=3: 35/0, Out=5: 33/0).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014984" y="3163824"/>
            <a:ext cx="457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106424" y="3163824"/>
            <a:ext cx="5047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and Naïve both reach 100% by predicting Up always — this is not a learning success but a data artefact.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014984" y="3639312"/>
            <a:ext cx="45720" cy="32918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106424" y="3639312"/>
            <a:ext cx="5047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role: ALZ is the control group. Literature support: Valverde-Albacete &amp; Pelaez-Moreno (2014) — '100% classification accuracy considered harmful'.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1014984" y="4114800"/>
            <a:ext cx="45720" cy="32918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1106424" y="4114800"/>
            <a:ext cx="5047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 is irrelevant for ALZ — MC arises from data structure. Low-risk monotonic funds are unsuitable for binary DL prediction.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ALZ — Majority-Class Illusion Explained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5537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 — Majority-Class Illusion Explained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100% accuracy is meaningless on zero-Down test sets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sessions/affectionate-friendly-curie/mnt/Proje/04_Gorsel_Portfolyo/13_Pie_Class_Bal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4984" y="1298448"/>
            <a:ext cx="3608680" cy="2743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14984" y="4059936"/>
            <a:ext cx="360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Graphic: ALZ class distribution — Up dominates all horizons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4806544" y="1033272"/>
            <a:ext cx="4227728" cy="877824"/>
          </a:xfrm>
          <a:prstGeom prst="rect">
            <a:avLst/>
          </a:prstGeom>
          <a:solidFill>
            <a:srgbClr val="F4F5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806544" y="1033272"/>
            <a:ext cx="45720" cy="877824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16272" y="1097280"/>
            <a:ext cx="406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 Test Set Class Distribution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916272" y="1307592"/>
            <a:ext cx="4063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Out=1: 37 Up / 0 Down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Out=3: 35 Up / 0 Down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Out=5: 33 Up / 0 Down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Zero Down observations in ALL test sets.</a:t>
            </a:r>
            <a:endParaRPr lang="en-US" sz="780" dirty="0"/>
          </a:p>
        </p:txBody>
      </p:sp>
      <p:sp>
        <p:nvSpPr>
          <p:cNvPr id="22" name="Shape 19"/>
          <p:cNvSpPr/>
          <p:nvPr/>
        </p:nvSpPr>
        <p:spPr>
          <a:xfrm>
            <a:off x="4806544" y="1965960"/>
            <a:ext cx="4227728" cy="877824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806544" y="1965960"/>
            <a:ext cx="45720" cy="8778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916272" y="2029968"/>
            <a:ext cx="406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Illusion Mechanism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916272" y="2240280"/>
            <a:ext cx="4063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Specificity = 0 (model never predicts Down):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= (Sensitivity + 0) / 2 ≈ 50%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Acc = 100% but BA = 50.0% — coin flip.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(Valverde-Albacete &amp; Pelaez-Moreno, 2014)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4806544" y="2898648"/>
            <a:ext cx="4227728" cy="877824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806544" y="2898648"/>
            <a:ext cx="45720" cy="87782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16272" y="2962656"/>
            <a:ext cx="406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 Reveals the Illusion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916272" y="3172968"/>
            <a:ext cx="4063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= (Sens + Spec) / 2 = (1.0 + 0.0) / 2 = 0.50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classifier scores the same.</a:t>
            </a:r>
            <a:endParaRPr lang="en-US" sz="78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DL learns nothing on ALZ.</a:t>
            </a:r>
            <a:endParaRPr lang="en-US" sz="780" dirty="0"/>
          </a:p>
        </p:txBody>
      </p:sp>
      <p:sp>
        <p:nvSpPr>
          <p:cNvPr id="30" name="Shape 27"/>
          <p:cNvSpPr/>
          <p:nvPr/>
        </p:nvSpPr>
        <p:spPr>
          <a:xfrm>
            <a:off x="4806544" y="3831336"/>
            <a:ext cx="4227728" cy="877824"/>
          </a:xfrm>
          <a:prstGeom prst="rect">
            <a:avLst/>
          </a:prstGeom>
          <a:solidFill>
            <a:srgbClr val="F4F5F7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06544" y="3831336"/>
            <a:ext cx="45720" cy="87782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4916272" y="3895344"/>
            <a:ext cx="4063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Group Role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916272" y="3922776"/>
            <a:ext cx="4063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 confirms: with monotonic low-risk funds, class imbalance is so extreme that any binary model collapses to single-class prediction regardless of feature set.</a:t>
            </a:r>
            <a:endParaRPr lang="en-US" sz="78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685F4031-8AF8-4060-A9E2-F5D17D277AD5}"/>
              </a:ext>
            </a:extLst>
          </p:cNvPr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AZS — Medium-Risk · Balanced Performance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AZS — Medium-Risk Pension Fund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Değişken EYF · Risk 3–4 · Feature Sets: full &amp; technical · 2021–2026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" y="1298448"/>
          <a:ext cx="5504688" cy="1569720"/>
        </p:xfrm>
        <a:graphic>
          <a:graphicData uri="http://schemas.openxmlformats.org/drawingml/2006/table">
            <a:tbl>
              <a:tblPr/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75.56 %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88.89 %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tech, In=4, Out=3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LSTM-A (Best BA)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91.30 %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In=4, Out=5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LSTM-B (Stable)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68.89 %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72.92 %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79.17 %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84.44 %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In=2, Out=5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In=2, Out=5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Baseline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90.32 %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Out=5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" name="Image 0" descr="/sessions/affectionate-friendly-curie/mnt/Proje/04_Gorsel_Portfolyo/EN_Graphics/07_Feature_Set_Impac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91656" y="1298448"/>
            <a:ext cx="2642616" cy="18288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91656" y="3145536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7: Feature Enrichment — Adding indicators reduces MC bias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1014984" y="2980944"/>
            <a:ext cx="45720" cy="347472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1106424" y="2980944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★ (technical, In=4, Out=3): BA=76.71%, Sens=90.91%, Spec=62.50%, p=0.0002 — highest BA among all AZS configurations. CSV-confirmed champion.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1014984" y="3502152"/>
            <a:ext cx="45720" cy="34747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1106424" y="3502152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LSTM-A (full, In=4, Out=5): BA=75.65%, SD=0.1688, p=0.0001. LSTM-B (full, In=2, Out=5): BA=72.92%, SD=0.0839 — more stable, p=0.0026. Both show genuine bilateral learning.</a:t>
            </a:r>
            <a:endParaRPr lang="en-US" sz="750" dirty="0"/>
          </a:p>
        </p:txBody>
      </p:sp>
      <p:sp>
        <p:nvSpPr>
          <p:cNvPr id="23" name="Shape 19"/>
          <p:cNvSpPr/>
          <p:nvPr/>
        </p:nvSpPr>
        <p:spPr>
          <a:xfrm>
            <a:off x="1014984" y="4023360"/>
            <a:ext cx="45720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1106424" y="4023360"/>
            <a:ext cx="50657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 Baseline (90.32%) remains dominant — heavy class imbalance (29 Up / 6 Down = 82.9% Up on Out=5). DL learns meaningfully but cannot exceed the Up-always rule.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AZS — Feature Impact &amp; Window Sensitivity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— Feature Enrichment &amp; Window Sensitivity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technical features and shorter windows improve learning on medium-risk funds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sessions/affectionate-friendly-curie/mnt/Proje/04_Gorsel_Portfolyo/EN_Graphics/02_Horizon_vs_Accurac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4984" y="1298448"/>
            <a:ext cx="4410608" cy="2743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14984" y="4059936"/>
            <a:ext cx="4410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2: Prediction Horizon vs. Accuracy — LSTM vs. Naïve as Out grows (AZS)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5608472" y="1078992"/>
            <a:ext cx="342580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08472" y="1078992"/>
            <a:ext cx="45720" cy="8412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18200" y="1143000"/>
            <a:ext cx="326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Short-Memory Advantage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718200" y="1353312"/>
            <a:ext cx="3261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In=2 (2 weeks) outperforms In=4 and In=6 across all feature sets on AZS. Weekly BES data carries limited long-range autocorrelation — shorter lookback preserves signal.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608472" y="1975104"/>
            <a:ext cx="342580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08472" y="1975104"/>
            <a:ext cx="45720" cy="841248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18200" y="2039112"/>
            <a:ext cx="326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and Class Balance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718200" y="2249424"/>
            <a:ext cx="3261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Out=3 gives 33 Up / 6 Down (84.6% Up) — a better class balance than Out=5 (29 Up / 6 Down = 82.9% Up). Class-weight balancing compensates partially but balance matters.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608472" y="2871216"/>
            <a:ext cx="342580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608472" y="2871216"/>
            <a:ext cx="45720" cy="841248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718200" y="2935224"/>
            <a:ext cx="326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Enrichment Effect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718200" y="3145536"/>
            <a:ext cx="3261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→ technical → full: MC rate drops as features add price-trend context. CNN technical (In=4, Out=3) emerges as champion: BA=76.71%, Spec=62.50% — genuine bilateral learning.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608472" y="3803904"/>
            <a:ext cx="3425800" cy="841248"/>
          </a:xfrm>
          <a:prstGeom prst="rect">
            <a:avLst/>
          </a:prstGeom>
          <a:solidFill>
            <a:srgbClr val="F4F5F7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608472" y="3803904"/>
            <a:ext cx="45720" cy="841248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718200" y="3831336"/>
            <a:ext cx="3261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Impact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718200" y="3867912"/>
            <a:ext cx="326120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applies class-weight balancing during training (sklearn compute_class_weight). Without it, LSTM collapses to MC. Weighting is essential for any fund with &gt;80% majority class.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AMZ ★ — High-Risk · Key Empirical Finding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AMZ ★ — High-Risk · Key Empirical Finding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Hisse Senedi EYF · Risk 6–7 · Feature Set: full · 2021–2026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4984" y="12984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38469"/>
              </p:ext>
            </p:extLst>
          </p:nvPr>
        </p:nvGraphicFramePr>
        <p:xfrm>
          <a:off x="1014984" y="1682496"/>
          <a:ext cx="5376673" cy="1261870"/>
        </p:xfrm>
        <a:graphic>
          <a:graphicData uri="http://schemas.openxmlformats.org/drawingml/2006/table">
            <a:tbl>
              <a:tblPr/>
              <a:tblGrid>
                <a:gridCol w="1089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0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3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3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3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37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22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5741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2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★★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84.00 %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89.36 %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In=2, Out=3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(best non-MC)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60.42 %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72.47 %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78.26 %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66.67 %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81.82 %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full, In=4, Out=1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80.65 %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In=2, Out=5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Out=3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78.79 %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Out=3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" name="Image 0" descr="/sessions/affectionate-friendly-curie/mnt/Proje/04_Gorsel_Portfolyo/EN_Graphics/04_Balanced_Accuracy_AMZ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91656" y="1298448"/>
            <a:ext cx="2642616" cy="1600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91656" y="2916936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4: Balanced Accuracy Comparison — AMZ LSTM is the true winner</a:t>
            </a:r>
            <a:endParaRPr lang="en-US" sz="650" dirty="0"/>
          </a:p>
        </p:txBody>
      </p:sp>
      <p:pic>
        <p:nvPicPr>
          <p:cNvPr id="20" name="Image 1" descr="/sessions/affectionate-friendly-curie/mnt/Proje/04_Gorsel_Portfolyo/EN_Graphics/09_Model_Signal_Qual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91656" y="2962656"/>
            <a:ext cx="2642616" cy="12984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91656" y="4279392"/>
            <a:ext cx="2642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9: High Spec + High Sens = Real Predictive Power</a:t>
            </a:r>
            <a:endParaRPr lang="en-US" sz="650" dirty="0"/>
          </a:p>
        </p:txBody>
      </p:sp>
      <p:sp>
        <p:nvSpPr>
          <p:cNvPr id="22" name="Shape 17"/>
          <p:cNvSpPr/>
          <p:nvPr/>
        </p:nvSpPr>
        <p:spPr>
          <a:xfrm>
            <a:off x="1014984" y="3090672"/>
            <a:ext cx="4572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8"/>
          <p:cNvSpPr/>
          <p:nvPr/>
        </p:nvSpPr>
        <p:spPr>
          <a:xfrm>
            <a:off x="1106424" y="3090672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Empirical Finding: AMZ LSTM (full, In=2, Out=3): Acc=80.21%, BA=84.85%, p=0.0001. Statistically outperforms Naïve Out=3 (78.79%) — only fund where DL achieves genuine predictive advantage.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1014984" y="3483864"/>
            <a:ext cx="45720" cy="27432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1106424" y="3483864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Spec=85.71% AND Sens=84.00% — near-perfect bilateral detection. Both Up and Down movements are captured with high precision.</a:t>
            </a:r>
            <a:endParaRPr lang="en-US" sz="750" dirty="0"/>
          </a:p>
        </p:txBody>
      </p:sp>
      <p:sp>
        <p:nvSpPr>
          <p:cNvPr id="26" name="Shape 21"/>
          <p:cNvSpPr/>
          <p:nvPr/>
        </p:nvSpPr>
        <p:spPr>
          <a:xfrm>
            <a:off x="1014984" y="3877056"/>
            <a:ext cx="4572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1106424" y="3877056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(full, In=4, Out=1): BA=72.47%, Sens=78.26%, Spec=66.67%, p=0.0035. Genuine bilateral detection — CSV-confirmed best non-MC CNN on AMZ.</a:t>
            </a:r>
            <a:endParaRPr lang="en-US" sz="750" dirty="0"/>
          </a:p>
        </p:txBody>
      </p:sp>
      <p:sp>
        <p:nvSpPr>
          <p:cNvPr id="28" name="Shape 23"/>
          <p:cNvSpPr/>
          <p:nvPr/>
        </p:nvSpPr>
        <p:spPr>
          <a:xfrm>
            <a:off x="1014984" y="4270248"/>
            <a:ext cx="45720" cy="27432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1106424" y="4270248"/>
            <a:ext cx="5065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AMZ's ±38% volatility generates learnable signal that ALZ (±2%) and AZS (±18%) cannot provide. 9/9 LSTM full configs are non-MC on AMZ.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AMZ — Confusion Matrix &amp; Pooled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LSTM — Confusion Matrix &amp; Pooled Analysis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 · In=2, Out=3 · Seeds 23·27·98 · N=32/seed · Pooled N=96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4984" y="1298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Seed Confusion Matrix (N=32)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" y="1554480"/>
          <a:ext cx="3200400" cy="786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Up (25)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= 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=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Down (7)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=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= 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352544" y="1554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352544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80.21 %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352544" y="1847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Bal. Accuracy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352544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84.85 %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52544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352544" y="23408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84.00 %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22976" y="15544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522976" y="17556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85.71 %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22976" y="184708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522976" y="20482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89.36 %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522976" y="21396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522976" y="234086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0.0001 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14984" y="25054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Confusion Matrix — 3 Seeds (N=96)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" y="2761488"/>
          <a:ext cx="3200400" cy="786384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Down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Up (75)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= 63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= 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Down (21)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=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= 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1014984" y="362102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Status: Non-MC (Spec=85.71%) — pooled N=96 confirms robustness</a:t>
            </a:r>
            <a:endParaRPr lang="en-US" sz="850" dirty="0"/>
          </a:p>
        </p:txBody>
      </p:sp>
      <p:pic>
        <p:nvPicPr>
          <p:cNvPr id="33" name="Image 0" descr="/sessions/affectionate-friendly-curie/mnt/Proje/04_Gorsel_Portfolyo/EN_Graphics/10_Confusion_Matrix_Fina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84064" y="1298448"/>
            <a:ext cx="3950208" cy="32004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084064" y="4517136"/>
            <a:ext cx="3950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10: Confusion Matrix Summary — AMZ LSTM champion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Results: AMZ — Radar Chart &amp; Feature Synergy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LSTM — Metric Radar &amp; Feature Synergy Analysis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feature set · In=2, Out=3 · Multi-seed robustness confirmed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sessions/affectionate-friendly-curie/mnt/Proje/04_Gorsel_Portfolyo/14_AMZ_LSTM_Rada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4984" y="1298448"/>
            <a:ext cx="3918204" cy="23317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14984" y="3648456"/>
            <a:ext cx="3918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Graphic: AMZ LSTM champion — Sensitivity · Specificity · BA · F1 · Accuracy radar</a:t>
            </a:r>
            <a:endParaRPr lang="en-US" sz="650" dirty="0"/>
          </a:p>
        </p:txBody>
      </p:sp>
      <p:pic>
        <p:nvPicPr>
          <p:cNvPr id="18" name="Image 1" descr="/sessions/affectionate-friendly-curie/mnt/Proje/04_Gorsel_Portfolyo/23_Feature_Synergy_Boxplo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6068" y="1298448"/>
            <a:ext cx="3918204" cy="23317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16068" y="3648456"/>
            <a:ext cx="3918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Graphic: Feature set synergy — distribution of BA by feature set and model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1014984" y="3931920"/>
            <a:ext cx="45720" cy="31089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106424" y="3895344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LSTM radar confirms near-symmetric coverage: Sens=84%, Spec=86%, BA=85%, F1=89%, Acc=80%. No single metric is inflated at the expense of another — genuine bilateral detection.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5024628" y="3931920"/>
            <a:ext cx="45720" cy="310896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16068" y="3895344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synergy boxplot: 'full' set produces the highest median BA on AMZ across all seeds and windows. 'closing' collapses to MC most frequently. Technical features provide intermediate robustness.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1014984" y="4370832"/>
            <a:ext cx="45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106424" y="4334256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variance for AMZ LSTM full: SD &lt; 2% across seeds 23/27/98. All three seeds produce non-MC results with BA &gt; 80% — the champion configuration is robust, not a lucky seed.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5024628" y="4370832"/>
            <a:ext cx="45720" cy="310896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116068" y="4334256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9 LSTM full configurations on AMZ are non-MC. This is the only fund and feature set achieving universal non-MC — confirming AMZ's ±38% volatility as the enabling condition.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Cross-Fund Comparison — Three Feature Sets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Feature Sets — full · technical · closing Comparison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non-MC champion per fund across all feature sets — how does feature richness affect learning?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5254181"/>
              </p:ext>
            </p:extLst>
          </p:nvPr>
        </p:nvGraphicFramePr>
        <p:xfrm>
          <a:off x="1014984" y="1298448"/>
          <a:ext cx="5468112" cy="1293876"/>
        </p:xfrm>
        <a:graphic>
          <a:graphicData uri="http://schemas.openxmlformats.org/drawingml/2006/table">
            <a:tbl>
              <a:tblPr/>
              <a:tblGrid>
                <a:gridCol w="566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35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6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68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0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1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1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011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35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Feat. Set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In/Out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(MC)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In=2, Out=1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AZS ★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★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75.56 %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In=4, Out=3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 ★★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★★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84.85 %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In=2, Out=3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Image 0" descr="/sessions/affectionate-friendly-curie/mnt/Proje/04_Gorsel_Portfolyo/EN_Graphics/05_Risk_vs_Learnin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47104" y="1298448"/>
            <a:ext cx="2487168" cy="31546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47104" y="4471416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5: Asset Risk vs Model Learning Ability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1046988" y="2624152"/>
            <a:ext cx="2670048" cy="883066"/>
          </a:xfrm>
          <a:prstGeom prst="rect">
            <a:avLst/>
          </a:prstGeom>
          <a:solidFill>
            <a:srgbClr val="FFE8E8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1124712" y="2670719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4712" y="2926751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driven by data structure (zero Down obs). Feature set is irrelevant — all sets produce MC on ALZ. Control-group role preserved.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1014984" y="3603407"/>
            <a:ext cx="2670048" cy="950976"/>
          </a:xfrm>
          <a:prstGeom prst="rect">
            <a:avLst/>
          </a:prstGeom>
          <a:solidFill>
            <a:srgbClr val="E8F5E8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1124712" y="3676559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★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4712" y="3932591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★ technical (In=4, Out=3): BA=76.71%, Sens=90.91%, Spec=62.50%, p=0.0002. Technical outperforms full on AZS — fewer features can reduce over-fitting on small datasets.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3813048" y="2628900"/>
            <a:ext cx="2670048" cy="883066"/>
          </a:xfrm>
          <a:prstGeom prst="rect">
            <a:avLst/>
          </a:prstGeom>
          <a:solidFill>
            <a:srgbClr val="FFF3CD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922776" y="2670719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★★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922776" y="2926751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preserved: full set wins on AMZ. BA=84.85%, p=0.0001. Higher risk → higher volatility → more balanced classes → feature richness pays off.</a:t>
            </a:r>
            <a:endParaRPr lang="en-US" sz="750" dirty="0"/>
          </a:p>
        </p:txBody>
      </p:sp>
      <p:sp>
        <p:nvSpPr>
          <p:cNvPr id="28" name="Shape 24"/>
          <p:cNvSpPr/>
          <p:nvPr/>
        </p:nvSpPr>
        <p:spPr>
          <a:xfrm>
            <a:off x="3813048" y="3603407"/>
            <a:ext cx="2670048" cy="950976"/>
          </a:xfrm>
          <a:prstGeom prst="rect">
            <a:avLst/>
          </a:prstGeom>
          <a:solidFill>
            <a:srgbClr val="E8F5F5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5"/>
          <p:cNvSpPr/>
          <p:nvPr/>
        </p:nvSpPr>
        <p:spPr>
          <a:xfrm>
            <a:off x="3922776" y="3676559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3922776" y="3932591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→ learning gradient confirmed: ALZ (±2%) = MC trap; AZS (±18%) = meaningful; AMZ (±38%) = star. Volatility determines whether DL can extract real signal.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Cross-Fund — Optimizer Robustness &amp; Feature Synergy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Robustness &amp; Feature Synergy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convergence consistency · Feature set interactions across funds and models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sessions/affectionate-friendly-curie/mnt/Proje/04_Gorsel_Portfolyo/22_Optimizer_Robustne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4984" y="1298448"/>
            <a:ext cx="3918204" cy="23317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14984" y="3648456"/>
            <a:ext cx="3918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Graphic: Optimizer Robustness — Adam convergence across seeds and window configs</a:t>
            </a:r>
            <a:endParaRPr lang="en-US" sz="650" dirty="0"/>
          </a:p>
        </p:txBody>
      </p:sp>
      <p:pic>
        <p:nvPicPr>
          <p:cNvPr id="18" name="Image 1" descr="/sessions/affectionate-friendly-curie/mnt/Proje/04_Gorsel_Portfolyo/23_Feature_Synergy_Boxplo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16068" y="1298448"/>
            <a:ext cx="3918204" cy="23317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16068" y="3648456"/>
            <a:ext cx="39182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Graphic: Feature Synergy — BA distribution by feature set and model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1014984" y="3931920"/>
            <a:ext cx="45720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106424" y="3895344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with Early Stopping (patience=5) converges consistently across all three seeds and all nine In/Out combinations. No seed divergence observed — optimisation is stable for BES weekly data.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5024628" y="3931920"/>
            <a:ext cx="45720" cy="310896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16068" y="3895344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synergy: 'full' set reduces BA variance for AMZ; 'technical' reduces MC rate for AZS; 'closing' alone is insufficient on both medium and high-risk funds — price-only features lack directional context.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1014984" y="4370832"/>
            <a:ext cx="45720" cy="310896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106424" y="4334256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regularisation (0.2–0.4) is critical: without dropout, LSTM overfits on 183-obs training sets and collapses to single-class prediction on AZS. Dropout keeps bilateral detection alive.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5024628" y="4370832"/>
            <a:ext cx="45720" cy="310896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116068" y="4334256"/>
            <a:ext cx="38633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= 16 for CNN provides stable gradient estimates on small test sets (≈39 obs). Larger batches cause gradient noise on imbalanced data; smaller batches risk overfitting.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Cross-Fund Comparison — Champions Summary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Cross-Fund Comparison — Champions Summary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non-MC champion per fund across all feature sets (full, technical, closing)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" y="1298448"/>
          <a:ext cx="6711696" cy="10058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37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875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Beats Naïve?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(1)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 (MC)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100 %*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(single-class)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 (3–4)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★ [technical]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75.56 %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0.0002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(90.32%)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 ★★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(6–7)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★★ [full]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84.85 %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★ (78.79%)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1014984" y="2359152"/>
            <a:ext cx="54864" cy="5120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5"/>
          <p:cNvSpPr/>
          <p:nvPr/>
        </p:nvSpPr>
        <p:spPr>
          <a:xfrm>
            <a:off x="1124712" y="2359152"/>
            <a:ext cx="7872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Take-away  </a:t>
            </a: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ALZ 100% is trivial (always-Up, MC, not skill).  — AZS CNN ★ learns (p=0.0002) but Naïve dominates due to class imbalance.  </a:t>
            </a: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AMZ LSTM ★★ is the ONLY config that beats its per-horizon Naïve baseline — the Key Empirical Finding.</a:t>
            </a:r>
            <a:endParaRPr lang="en-US" sz="850" dirty="0"/>
          </a:p>
        </p:txBody>
      </p:sp>
      <p:pic>
        <p:nvPicPr>
          <p:cNvPr id="19" name="Image 0" descr="/sessions/affectionate-friendly-curie/mnt/Proje/04_Gorsel_Portfolyo/EN_Graphics/01_Accuracy_Illus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4984" y="2944368"/>
            <a:ext cx="3936492" cy="168249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14984" y="4645152"/>
            <a:ext cx="39364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1: The Accuracy Illusion — raw % vs. Balanced Accuracy</a:t>
            </a:r>
            <a:endParaRPr lang="en-US" sz="650" dirty="0"/>
          </a:p>
        </p:txBody>
      </p:sp>
      <p:pic>
        <p:nvPicPr>
          <p:cNvPr id="21" name="Image 1" descr="/sessions/affectionate-friendly-curie/mnt/Proje/04_Gorsel_Portfolyo/EN_Graphics/05_Risk_vs_Learn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97780" y="2944368"/>
            <a:ext cx="3936492" cy="16824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97780" y="4645152"/>
            <a:ext cx="39364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5: Risk vs. learning capacity — gradient across BES funds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Cross-Fund — Model × Asset Accuracy Heatmap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× Asset Accuracy Heatmap (BES-Only)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directional accuracy — ARIMA · CNN · LSTM · Naïve × ALZ · AZS · AMZ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4984" y="12984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14984" y="1591056"/>
            <a:ext cx="45720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106424" y="1591056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LSTM: genuine BA=84.85% (p=0.0001), beats Naïve Out=3 (78.79%). Only fund where DL outperforms the Up-always rule.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014984" y="2286000"/>
            <a:ext cx="45720" cy="64008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06424" y="2286000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ALZ: all methods reach 100% raw accuracy but Spec=0 on every config. The 100% figures are a Majority-Class illusion, not learning.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014984" y="2980944"/>
            <a:ext cx="45720" cy="640080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06424" y="2980944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Naïve dominates at 90.32% due to heavy imbalance (82.9% Up). CNN/LSTM learn meaningfully (p&lt;0.01) but cannot beat that baseline.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14984" y="3675888"/>
            <a:ext cx="45720" cy="640080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106424" y="3675888"/>
            <a:ext cx="2432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THYAO with ALZ exposes the MC trap vividly: high raw accuracy ≠ high model quality. Balanced Accuracy tells the real story.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58184" y="1298448"/>
          <a:ext cx="5276088" cy="2377440"/>
        </p:xfrm>
        <a:graphic>
          <a:graphicData uri="http://schemas.openxmlformats.org/drawingml/2006/table">
            <a:tbl>
              <a:tblPr/>
              <a:tblGrid>
                <a:gridCol w="1160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7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 ★★ 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AZS ★ 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 † Low (MC)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51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74.36%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68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5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33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8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100%*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84.85% ★★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AAFF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76.71% 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99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50.0% 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3758184" y="3730752"/>
            <a:ext cx="5276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00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Trivial: single-class data (zero Down obs) — Up-always prediction.   † MC trap: Spec=0 across all seeds, BA collapses to 50%.   BA row = best non-MC champion Balanced Accuracy per fund.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3758184" y="4151376"/>
            <a:ext cx="1703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098950" y="4608576"/>
            <a:ext cx="1022299" cy="274320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758184" y="4187714"/>
            <a:ext cx="1703832" cy="420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50% † MC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516880" y="4151376"/>
            <a:ext cx="1703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857646" y="4462034"/>
            <a:ext cx="1022299" cy="420862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516880" y="4352544"/>
            <a:ext cx="1703832" cy="90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76.71% ★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275576" y="4151376"/>
            <a:ext cx="1703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★★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7616342" y="4417375"/>
            <a:ext cx="1022299" cy="465521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7275576" y="4187714"/>
            <a:ext cx="1703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84.85% ★★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758184" y="5120640"/>
            <a:ext cx="5276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by Fund — genuine learning vs. MC illusion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Cross-Fund — Robustness Analysis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Robustness &amp; Window Sensitivity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Short-memory patterns dominate weekly BES data · Seed variance &lt; 2%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/sessions/affectionate-friendly-curie/mnt/Proje/04_Gorsel_Portfolyo/EN_Graphics/06_MC_Resistance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4984" y="1298448"/>
            <a:ext cx="3927348" cy="2286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14984" y="3602736"/>
            <a:ext cx="39273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6: MC Resistance — CNN vs LSTM by feature set (BES funds)</a:t>
            </a:r>
            <a:endParaRPr lang="en-US" sz="650" dirty="0"/>
          </a:p>
        </p:txBody>
      </p:sp>
      <p:pic>
        <p:nvPicPr>
          <p:cNvPr id="18" name="Image 1" descr="/sessions/affectionate-friendly-curie/mnt/Proje/04_Gorsel_Portfolyo/EN_Graphics/08_Concept_Drif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06924" y="1298448"/>
            <a:ext cx="3927348" cy="22860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06924" y="3602736"/>
            <a:ext cx="39273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8: Concept Drift Evidence — performance drop after 2022</a:t>
            </a:r>
            <a:endParaRPr lang="en-US" sz="650" dirty="0"/>
          </a:p>
        </p:txBody>
      </p:sp>
      <p:sp>
        <p:nvSpPr>
          <p:cNvPr id="20" name="Shape 16"/>
          <p:cNvSpPr/>
          <p:nvPr/>
        </p:nvSpPr>
        <p:spPr>
          <a:xfrm>
            <a:off x="1014984" y="3712464"/>
            <a:ext cx="4572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1106424" y="3675888"/>
            <a:ext cx="38633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In=2 (2-week lookback) outperforms In=4 and In=6 on all three pension funds. Weekly BES data carries limited long-range autocorrelation — short-memory patterns dominate.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5024628" y="3712464"/>
            <a:ext cx="45720" cy="329184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5116068" y="3675888"/>
            <a:ext cx="38633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Out=3 gives optimal class balance for AMZ (25 Up / 7 Down). Out=5 worsens class imbalance for AZS (29/6 = 82.9% Up), reducing Specificity gains from longer horizons.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1014984" y="4169664"/>
            <a:ext cx="45720" cy="329184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1106424" y="4133088"/>
            <a:ext cx="38633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variance &lt; 2% for all champion configurations — multi-seed validation (23/27/98) confirms that results are not seed-dependent artefacts.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5024628" y="4169664"/>
            <a:ext cx="45720" cy="329184"/>
          </a:xfrm>
          <a:prstGeom prst="rect">
            <a:avLst/>
          </a:prstGeom>
          <a:solidFill>
            <a:srgbClr val="B85C00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5116068" y="4133088"/>
            <a:ext cx="38633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achieves better MC resistance than LSTM on AZS with closing/technical features. LSTM needs full feature set to avoid MC trap on medium-risk funds.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Cross-Fund — The Majority-Class Sinkhole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Majority-Class Sinkhole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Visualising the BA collapse when Specificity = 0 across funds and models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984" y="1298448"/>
            <a:ext cx="4410608" cy="621792"/>
          </a:xfrm>
          <a:prstGeom prst="rect">
            <a:avLst/>
          </a:prstGeom>
          <a:solidFill>
            <a:srgbClr val="EDF2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24712" y="1353312"/>
            <a:ext cx="4191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Accuracy (BA) — Primary Metric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" y="1554480"/>
            <a:ext cx="4191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  =  ( Sensitivity + Specificity )  ÷  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14984" y="2011680"/>
            <a:ext cx="4410608" cy="950976"/>
          </a:xfrm>
          <a:prstGeom prst="rect">
            <a:avLst/>
          </a:prstGeom>
          <a:solidFill>
            <a:srgbClr val="FFE8E8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4984" y="2011680"/>
            <a:ext cx="54864" cy="950976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2066544"/>
            <a:ext cx="4227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Majority-Class Sinkhole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43000" y="2286000"/>
            <a:ext cx="4227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Spec = 0  →  BA = ( Sens + 0 ) ÷ 2  ≈  50 %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43000" y="2542032"/>
            <a:ext cx="4227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predicts only 'Up' — never detects a Down move. BA collapses to coin-flip regardless of raw accuracy.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14984" y="3054096"/>
            <a:ext cx="4410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 Fund MC Status — All Configurations Tested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4984" y="3273552"/>
          <a:ext cx="4407408" cy="1060704"/>
        </p:xfrm>
        <a:graphic>
          <a:graphicData uri="http://schemas.openxmlformats.org/drawingml/2006/table">
            <a:tbl>
              <a:tblPr/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5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Status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Bal. Acc.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ALZ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 (all 54 configs)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8C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AZS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Non-MC ★ (best CNN)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62.50 %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A6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76.71 %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AMZ ★★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Non-MC ★★ (LSTM full)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85.71 %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84.85 %</a:t>
                      </a:r>
                      <a:endParaRPr lang="en-US" sz="8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590184" y="1298448"/>
            <a:ext cx="3444088" cy="768096"/>
          </a:xfrm>
          <a:prstGeom prst="rect">
            <a:avLst/>
          </a:prstGeom>
          <a:solidFill>
            <a:srgbClr val="F4F5F7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90184" y="1298448"/>
            <a:ext cx="45720" cy="768096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99912" y="1362456"/>
            <a:ext cx="327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8C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 Sinkhole Defined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699912" y="1572768"/>
            <a:ext cx="327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 Illusion: when Spec = 0 (model never predicts Down), BA = (Sens + 0)/2 = ~50%. The model scores 50% — coin-flip performance — regardless of raw accuracy.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5590184" y="2103120"/>
            <a:ext cx="3444088" cy="768096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590184" y="2103120"/>
            <a:ext cx="45720" cy="7680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699912" y="2167128"/>
            <a:ext cx="327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ALZ: 100% Accuracy, 50% BA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99912" y="2377440"/>
            <a:ext cx="327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 LSTM + 27 CNN configs on ALZ fall into the sinkhole. 100% Accuracy but Spec = 0, Sens = 1 → BA = 50.0%. Not a model failure — a data structure failure.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5590184" y="2907792"/>
            <a:ext cx="3444088" cy="768096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5590184" y="2907792"/>
            <a:ext cx="45720" cy="768096"/>
          </a:xfrm>
          <a:prstGeom prst="rect">
            <a:avLst/>
          </a:prstGeom>
          <a:solidFill>
            <a:srgbClr val="0B6E6E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699912" y="2971800"/>
            <a:ext cx="327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Routes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699912" y="3182112"/>
            <a:ext cx="327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Escaping the sinkhole requires: (1) volatile fund with balanced classes; (2) feature enrichment; (3) class-weight balancing during training. Only AMZ LSTM full achieves all three.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5590184" y="3712464"/>
            <a:ext cx="3444088" cy="768096"/>
          </a:xfrm>
          <a:prstGeom prst="rect">
            <a:avLst/>
          </a:prstGeom>
          <a:solidFill>
            <a:srgbClr val="F4F5F7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5590184" y="3712464"/>
            <a:ext cx="45720" cy="7680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5699912" y="3776472"/>
            <a:ext cx="327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LSTM Escapes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699912" y="3986784"/>
            <a:ext cx="3279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LSTM full (In=2, Out=3): Spec=85.71%, Sens=84.00%, BA=84.85%. Fully bilateral — both Up and Down predicted correctly. Confirmed across all three seeds.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Conclusion &amp; Future Work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empirical take-aways from the BES-only evaluation framework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984" y="1298448"/>
            <a:ext cx="3918204" cy="960120"/>
          </a:xfrm>
          <a:prstGeom prst="rect">
            <a:avLst/>
          </a:prstGeom>
          <a:solidFill>
            <a:srgbClr val="F4F5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88136" y="1389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53896" y="1371600"/>
            <a:ext cx="33878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 — Majority-Class Control Group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53896" y="1618488"/>
            <a:ext cx="33878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 LSTM + 27 CNN configurations produced MC results across all feature sets. 100% accuracy is trivial. Low-risk monotonic funds are unsuitable for DL binary prediction.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1014984" y="2304288"/>
            <a:ext cx="3918204" cy="960120"/>
          </a:xfrm>
          <a:prstGeom prst="rect">
            <a:avLst/>
          </a:prstGeom>
          <a:solidFill>
            <a:srgbClr val="F4F5F7"/>
          </a:solidFill>
          <a:ln w="12700">
            <a:solidFill>
              <a:srgbClr val="0B6E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88136" y="23957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53896" y="2377440"/>
            <a:ext cx="33878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— Meaningful Learning, Naïve Unbeaten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53896" y="2624328"/>
            <a:ext cx="33878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technical (BA=76.71%, p=0.0002) and LSTM full (BA=75.65%, p=0.0001) demonstrate genuine bilateral learning. Naïve Baseline (90.32%) dominates due to class imbalance.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1014984" y="3310128"/>
            <a:ext cx="3918204" cy="1051560"/>
          </a:xfrm>
          <a:prstGeom prst="rect">
            <a:avLst/>
          </a:prstGeom>
          <a:solidFill>
            <a:srgbClr val="FFF8E8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88136" y="34015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53896" y="3383280"/>
            <a:ext cx="33878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AMZ — Deep Learning Beats Naïve Baseline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53896" y="3630168"/>
            <a:ext cx="338785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full (In=2, Out=3): Acc=80.21%, BA=84.85%, Spec=85.71%, p=0.0001. Statistically outperforms Naïve Out=3 (78.79%). Only fund where DL achieves genuine predictive advantage.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5116068" y="1302343"/>
            <a:ext cx="3918204" cy="960120"/>
          </a:xfrm>
          <a:prstGeom prst="rect">
            <a:avLst/>
          </a:prstGeom>
          <a:solidFill>
            <a:srgbClr val="F4F5F7"/>
          </a:solidFill>
          <a:ln w="12700">
            <a:solidFill>
              <a:srgbClr val="B85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89220" y="13898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54980" y="1371600"/>
            <a:ext cx="33878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 → Learning-Capacity Gradient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54980" y="1371600"/>
            <a:ext cx="33878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ALZ (±2%) → MC trap; AZS (±18%) → meaningful learning; AMZ (±38%) → star performance. Higher volatility → more balanced classes → real learning possible.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116068" y="2307167"/>
            <a:ext cx="3918204" cy="957241"/>
          </a:xfrm>
          <a:prstGeom prst="rect">
            <a:avLst/>
          </a:prstGeom>
          <a:solidFill>
            <a:srgbClr val="F4F5F7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89220" y="2344758"/>
            <a:ext cx="320040" cy="418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554980" y="1865376"/>
            <a:ext cx="338785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Methodological Rigor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54980" y="2518495"/>
            <a:ext cx="3387852" cy="576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8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Multi-seed (23/27/98) validation. 81 evaluations per fund. Pooled CM (N=96). Per-horizon Naïve Baseline prevents misleading conclusions. BA is essential for imbalanced data.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116068" y="3310129"/>
            <a:ext cx="3918204" cy="1051559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25796" y="3246121"/>
            <a:ext cx="36987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25796" y="2701376"/>
            <a:ext cx="3698748" cy="1755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Broader TEFAS categories and additional pension companies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25796" y="3434249"/>
            <a:ext cx="3698748" cy="60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Transformer / Attention-based architectures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225796" y="3809153"/>
            <a:ext cx="3698748" cy="205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Ensemble methods combining LSTM + CNN for robustness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25796" y="4014216"/>
            <a:ext cx="3698748" cy="205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Sentiment features (news, macro) as exogenous inputs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1828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0" y="612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" y="932688"/>
            <a:ext cx="694944" cy="274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0" y="1024128"/>
            <a:ext cx="914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VII. INTERNATIONAL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UYGULAMALI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İSTATİSTİK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KONGRESİ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1014984" y="0"/>
            <a:ext cx="8129016" cy="347472"/>
          </a:xfrm>
          <a:prstGeom prst="rect">
            <a:avLst/>
          </a:prstGeom>
          <a:solidFill>
            <a:srgbClr val="8C1515"/>
          </a:solidFill>
          <a:ln w="12700">
            <a:solidFill>
              <a:srgbClr val="8C15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06424" y="18288"/>
            <a:ext cx="6739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14984" y="4800600"/>
            <a:ext cx="8129016" cy="2011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0704" y="4828032"/>
            <a:ext cx="7196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UYIK-2026 · Hacettepe University · İstanbul, May 11–13, 2026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229600" y="481888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14984" y="402336"/>
            <a:ext cx="8019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4984" y="896112"/>
            <a:ext cx="8019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3D4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bibliography — all sources cited in the study (APA 7)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14984" y="1124712"/>
            <a:ext cx="146304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14984" y="129844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Bai, Y., &amp; Koong, K. S. (2018). Oil prices and stock returns. North American Journal of Economics and Finance, 44, 12–33.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014984" y="184708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Eşsiz, S., &amp; Ordu, M. (2024). A univariate time-series analysis for estimating the daily price of the S&amp;P 500 fund basket pension investment fund. Hodja Akhmet Yassawi 8th International Congress on Scientific Research.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14984" y="239572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Fischer, T., &amp; Krauss, C. (2018). Deep learning with long short-term memory networks for financial market predictions. European Journal of Operational Research, 270(2), 654–669.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14984" y="294436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Hochreiter, S., &amp; Schmidhuber, J. (1997). Long short-term memory. Neural Computation, 9(8), 1735–1780.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014984" y="349300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Karadağ Erdemir, Ö., &amp; Kırkağaç, M. (2024). ARIMA Modelleri ile Bireysel Emeklilik Fonlarının Tahmini. Hacettepe Üniversitesi.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16068" y="129844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LeCun, Y., Bengio, Y., &amp; Hinton, G. (2015). Deep learning. Nature, 521, 436–444.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16068" y="184708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Siami-Namini, S., Tavakoli, N., &amp; Namin, A. S. (2019). The performance of LSTM and BiLSTM in forecasting time series. 2019 IEEE International Conference on Big Data, 3285–3292.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116068" y="239572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Valverde-Albacete, F. J., &amp; Pelaez-Moreno, C. (2014). 100% classification accuracy considered harmful. PLOS ONE, 9(8).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16068" y="294436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Van der Burgt, F. (2023). Predicting NASDAQ-100 movements: LSTM vs. CNN (Master’s thesis). Erasmus University Rotterdam.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16068" y="3493008"/>
            <a:ext cx="39182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7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Yıldırım, D. C., Toroslu, I. H., &amp; Fiore, U. (2021). Forecasting directional movement of Forex data using LSTM with technical and macroeconomic indicators. Financial Innovation, 7(1), 1–36.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0"/>
            <a:ext cx="54864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 rot="16200000">
            <a:off x="0" y="1371600"/>
            <a:ext cx="914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188720" y="17190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0" y="2194560"/>
            <a:ext cx="45720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237744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Şevval DEMİR Mehmet Ali KURT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2651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92608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Hacettepe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University · Department of </a:t>
            </a:r>
            <a:r>
              <a:rPr lang="tr-TR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Actuarial</a:t>
            </a:r>
            <a:r>
              <a:rPr lang="tr-TR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32004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34747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2E"/>
          </a:solidFill>
          <a:ln w="12700">
            <a:solidFill>
              <a:srgbClr val="0A0F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483717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UYIK 2026  ·  Deep Learning in Turkish BES Pension Funds  ·  BES-Only Evaluation Framework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412480" y="48371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5217</Words>
  <Application>Microsoft Office PowerPoint</Application>
  <PresentationFormat>On-screen Show (16:9)</PresentationFormat>
  <Paragraphs>794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Assessment of ARIMA, CNN and LSTM in Forecasting Pension Investment Fund Returns</dc:title>
  <dc:subject>PptxGenJS Presentation</dc:subject>
  <dc:creator>Şevval Demir, Mehmet Ali Kurt, Övgücan Karadağ Erdemir</dc:creator>
  <cp:lastModifiedBy>Hakem</cp:lastModifiedBy>
  <cp:revision>9</cp:revision>
  <dcterms:created xsi:type="dcterms:W3CDTF">2026-04-24T04:13:20Z</dcterms:created>
  <dcterms:modified xsi:type="dcterms:W3CDTF">2026-04-26T12:40:45Z</dcterms:modified>
</cp:coreProperties>
</file>