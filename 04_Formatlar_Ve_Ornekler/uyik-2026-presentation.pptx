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314" r:id="rId2"/>
    <p:sldId id="279" r:id="rId3"/>
    <p:sldId id="280" r:id="rId4"/>
    <p:sldId id="328" r:id="rId5"/>
    <p:sldId id="327" r:id="rId6"/>
    <p:sldId id="283" r:id="rId7"/>
    <p:sldId id="329" r:id="rId8"/>
    <p:sldId id="330" r:id="rId9"/>
    <p:sldId id="284" r:id="rId10"/>
    <p:sldId id="331" r:id="rId11"/>
    <p:sldId id="332" r:id="rId12"/>
    <p:sldId id="290" r:id="rId13"/>
    <p:sldId id="333" r:id="rId14"/>
    <p:sldId id="334" r:id="rId15"/>
    <p:sldId id="335" r:id="rId16"/>
    <p:sldId id="287" r:id="rId17"/>
    <p:sldId id="336" r:id="rId18"/>
    <p:sldId id="337" r:id="rId19"/>
    <p:sldId id="299" r:id="rId20"/>
    <p:sldId id="313" r:id="rId21"/>
  </p:sldIdLst>
  <p:sldSz cx="12192000" cy="6858000"/>
  <p:notesSz cx="6858000" cy="9144000"/>
  <p:embeddedFontLst>
    <p:embeddedFont>
      <p:font typeface="Tahoma" panose="020B0604030504040204" pitchFamily="34" charset="0"/>
      <p:regular r:id="rId23"/>
      <p:bold r:id="rId24"/>
    </p:embeddedFont>
    <p:embeddedFont>
      <p:font typeface="Tahoma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371"/>
    <a:srgbClr val="BF1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004E-57E3-4EC7-AA5A-ED5B68A00E9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56BCA-A6ED-44AA-ABA5-66FC380241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903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 descr="metin, simge, sembol, logo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C25023-4D46-5920-0F9F-4E681C3D6A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5F3AD7-6E0A-321A-2ED9-DFABA506E34D}"/>
              </a:ext>
            </a:extLst>
          </p:cNvPr>
          <p:cNvSpPr txBox="1"/>
          <p:nvPr/>
        </p:nvSpPr>
        <p:spPr>
          <a:xfrm>
            <a:off x="3962400" y="1143000"/>
            <a:ext cx="6172200" cy="657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Enter the title of this study here.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9D0A9C38-F422-7839-7537-B2F3C6ECC73E}"/>
              </a:ext>
            </a:extLst>
          </p:cNvPr>
          <p:cNvSpPr txBox="1"/>
          <p:nvPr/>
        </p:nvSpPr>
        <p:spPr>
          <a:xfrm>
            <a:off x="2819400" y="2590800"/>
            <a:ext cx="4737847" cy="280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Author 1. Name-Surname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University, E-mail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19407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Author 2. Name-Surname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University, E-mail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19407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Author 3. Name-Surname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194070"/>
                </a:solidFill>
                <a:latin typeface="Tahoma"/>
                <a:ea typeface="Tahoma"/>
                <a:cs typeface="Tahoma"/>
                <a:sym typeface="Tahoma"/>
              </a:rPr>
              <a:t>University, E-mail</a:t>
            </a:r>
          </a:p>
        </p:txBody>
      </p:sp>
    </p:spTree>
    <p:extLst>
      <p:ext uri="{BB962C8B-B14F-4D97-AF65-F5344CB8AC3E}">
        <p14:creationId xmlns:p14="http://schemas.microsoft.com/office/powerpoint/2010/main" val="78730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644346-C543-2195-5418-E9BFC8B00B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988CF750-F995-D507-7014-64FACE0DACEC}"/>
              </a:ext>
            </a:extLst>
          </p:cNvPr>
          <p:cNvSpPr txBox="1"/>
          <p:nvPr/>
        </p:nvSpPr>
        <p:spPr>
          <a:xfrm>
            <a:off x="2938408" y="191024"/>
            <a:ext cx="6312136" cy="326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During the Preparation of a</a:t>
            </a:r>
            <a:r>
              <a:rPr lang="tr-TR" b="1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PowerPoint Presentation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4365E47C-C240-6916-C15A-7E42D6BD3219}"/>
              </a:ext>
            </a:extLst>
          </p:cNvPr>
          <p:cNvSpPr txBox="1"/>
          <p:nvPr/>
        </p:nvSpPr>
        <p:spPr>
          <a:xfrm>
            <a:off x="2332293" y="1064445"/>
            <a:ext cx="7524366" cy="60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  <a:spcBef>
                <a:spcPct val="0"/>
              </a:spcBef>
            </a:pPr>
            <a:r>
              <a:rPr lang="en-US" sz="1737" b="1" dirty="0">
                <a:solidFill>
                  <a:srgbClr val="BF1A24"/>
                </a:solidFill>
                <a:latin typeface="Tahoma Bold"/>
                <a:ea typeface="Tahoma Bold"/>
                <a:cs typeface="Tahoma Bold"/>
                <a:sym typeface="Tahoma Bold"/>
              </a:rPr>
              <a:t>*The total presentation time is 15 minutes.</a:t>
            </a:r>
          </a:p>
          <a:p>
            <a:pPr algn="ctr">
              <a:lnSpc>
                <a:spcPts val="2432"/>
              </a:lnSpc>
              <a:spcBef>
                <a:spcPct val="0"/>
              </a:spcBef>
            </a:pPr>
            <a:r>
              <a:rPr lang="en-US" sz="1737" b="1" dirty="0">
                <a:solidFill>
                  <a:srgbClr val="BF1A24"/>
                </a:solidFill>
                <a:latin typeface="Tahoma Bold"/>
                <a:ea typeface="Tahoma Bold"/>
                <a:cs typeface="Tahoma Bold"/>
                <a:sym typeface="Tahoma Bold"/>
              </a:rPr>
              <a:t>(Presentation: 10 minutes, Q&amp;A: 5 minutes)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73BA8D3-404A-3E76-8CFE-85D46F6326E3}"/>
              </a:ext>
            </a:extLst>
          </p:cNvPr>
          <p:cNvSpPr txBox="1"/>
          <p:nvPr/>
        </p:nvSpPr>
        <p:spPr>
          <a:xfrm>
            <a:off x="685800" y="1905000"/>
            <a:ext cx="10668000" cy="3814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6604" lvl="1" indent="-193302" algn="just">
              <a:lnSpc>
                <a:spcPts val="2506"/>
              </a:lnSpc>
              <a:buFont typeface="Arial"/>
              <a:buChar char="•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Avoid filling your slides with excessive text.</a:t>
            </a:r>
          </a:p>
          <a:p>
            <a:pPr marL="386604" lvl="1" indent="-193302" algn="just">
              <a:lnSpc>
                <a:spcPts val="2506"/>
              </a:lnSpc>
              <a:buFont typeface="Arial"/>
              <a:buChar char="•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Keep in mind that reading directly from slides is generally not considered a good practice.</a:t>
            </a:r>
          </a:p>
          <a:p>
            <a:pPr marL="386604" lvl="1" indent="-193302" algn="just">
              <a:lnSpc>
                <a:spcPts val="2506"/>
              </a:lnSpc>
              <a:buFont typeface="Arial"/>
              <a:buChar char="•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Ensure that your slides are structured to fit within a </a:t>
            </a:r>
            <a:r>
              <a:rPr lang="en-US" sz="179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10-minut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 presentation.</a:t>
            </a:r>
          </a:p>
          <a:p>
            <a:pPr marL="386604" lvl="1" indent="-193302" algn="just">
              <a:lnSpc>
                <a:spcPts val="2506"/>
              </a:lnSpc>
              <a:buFont typeface="Arial"/>
              <a:buChar char="•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Limit the total number of slides to a</a:t>
            </a:r>
            <a:r>
              <a:rPr lang="en-US" sz="179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maximum of 21.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(If your presentation includes a large number of tables, you may incorporate them as long as they do not extend beyond the allocated 10-minute duration.)</a:t>
            </a:r>
          </a:p>
          <a:p>
            <a:pPr algn="just">
              <a:lnSpc>
                <a:spcPts val="2506"/>
              </a:lnSpc>
            </a:pPr>
            <a:endParaRPr lang="en-US" sz="179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86604" lvl="1" indent="-193302" algn="just">
              <a:lnSpc>
                <a:spcPts val="2506"/>
              </a:lnSpc>
              <a:buAutoNum type="arabicPeriod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Adhere to the allocated presentation time (10 minutes for the presentation, 5 minutes for Q&amp;A).</a:t>
            </a:r>
          </a:p>
          <a:p>
            <a:pPr marL="386604" lvl="1" indent="-193302" algn="just">
              <a:lnSpc>
                <a:spcPts val="2506"/>
              </a:lnSpc>
              <a:buAutoNum type="arabicPeriod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Ensure that the core message of your presentation is conveyed clearly and concisely.</a:t>
            </a:r>
          </a:p>
          <a:p>
            <a:pPr marL="386604" lvl="1" indent="-193302" algn="just">
              <a:lnSpc>
                <a:spcPts val="2506"/>
              </a:lnSpc>
              <a:buAutoNum type="arabicPeriod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Include only essential information in text areas (limit text to a maximum of 6 lines per slide).</a:t>
            </a:r>
          </a:p>
          <a:p>
            <a:pPr marL="386604" lvl="1" indent="-193302" algn="just">
              <a:lnSpc>
                <a:spcPts val="2506"/>
              </a:lnSpc>
              <a:buAutoNum type="arabicPeriod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Avoid using irrelevant images, </a:t>
            </a:r>
            <a:r>
              <a:rPr lang="en-US" sz="1790" u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1790" u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tions, or other distracting visual elements.</a:t>
            </a:r>
          </a:p>
          <a:p>
            <a:pPr marL="386604" lvl="1" indent="-193302" algn="just">
              <a:lnSpc>
                <a:spcPts val="2506"/>
              </a:lnSpc>
              <a:spcBef>
                <a:spcPct val="0"/>
              </a:spcBef>
              <a:buAutoNum type="arabicPeriod"/>
            </a:pP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Use </a:t>
            </a:r>
            <a:r>
              <a:rPr lang="en-US" sz="179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Tahoma 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 the font type, with text aligned</a:t>
            </a:r>
            <a:r>
              <a:rPr lang="en-US" sz="179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justified</a:t>
            </a:r>
            <a:r>
              <a:rPr lang="en-US" sz="179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D56E5FD-E3E7-B371-5459-C16D0EFE5949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414540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A47BEF7-A900-7098-0B01-ACC64B15C2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C791D788-11BB-C0EA-C434-F913687D2708}"/>
              </a:ext>
            </a:extLst>
          </p:cNvPr>
          <p:cNvSpPr txBox="1"/>
          <p:nvPr/>
        </p:nvSpPr>
        <p:spPr>
          <a:xfrm>
            <a:off x="4992832" y="304800"/>
            <a:ext cx="2203287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Introduction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51EFCF4E-F6FF-F442-89F3-17F875F58EA9}"/>
              </a:ext>
            </a:extLst>
          </p:cNvPr>
          <p:cNvSpPr txBox="1"/>
          <p:nvPr/>
        </p:nvSpPr>
        <p:spPr>
          <a:xfrm>
            <a:off x="998536" y="1574482"/>
            <a:ext cx="10191878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Introduction Section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topic, problem, purpose, and significance of the research should be clearly explained in this section. If applicable, assumptions and limitations should also be included.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The introduction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75444F91-A2F7-7422-ED49-1E279652B460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235511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2086-8FF6-7EA8-E6F2-224862C5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E0D3EC2-A2FC-A6BA-2C36-D0E25EC5B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EB4EC563-BA58-1BAB-7E08-1C0086901EF9}"/>
              </a:ext>
            </a:extLst>
          </p:cNvPr>
          <p:cNvSpPr txBox="1"/>
          <p:nvPr/>
        </p:nvSpPr>
        <p:spPr>
          <a:xfrm>
            <a:off x="4992832" y="304800"/>
            <a:ext cx="2203287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Introduction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C267FA57-5EE9-402F-357B-0105EE1CA97D}"/>
              </a:ext>
            </a:extLst>
          </p:cNvPr>
          <p:cNvSpPr txBox="1"/>
          <p:nvPr/>
        </p:nvSpPr>
        <p:spPr>
          <a:xfrm>
            <a:off x="998536" y="1574482"/>
            <a:ext cx="10191878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Introduction Section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topic, problem, purpose, and significance of the research should be clearly explained in this section. If applicable, assumptions and limitations should also be included.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The introduction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36F04C71-C69A-D4CF-DA0A-B6E9FD1AE40E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208075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7513A-1296-09C5-2A39-7202FDD6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A53CAE1-7BF8-8671-2B52-F167BFFA76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076DFD39-03F7-5370-7C30-FBEE619BBC0D}"/>
              </a:ext>
            </a:extLst>
          </p:cNvPr>
          <p:cNvSpPr txBox="1"/>
          <p:nvPr/>
        </p:nvSpPr>
        <p:spPr>
          <a:xfrm>
            <a:off x="4992832" y="304800"/>
            <a:ext cx="2203287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Introduction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AD7563DC-4504-9B25-ACB1-A26B1860A171}"/>
              </a:ext>
            </a:extLst>
          </p:cNvPr>
          <p:cNvSpPr txBox="1"/>
          <p:nvPr/>
        </p:nvSpPr>
        <p:spPr>
          <a:xfrm>
            <a:off x="998536" y="1574482"/>
            <a:ext cx="10191878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Introduction Section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topic, problem, purpose, and significance of the research should be clearly explained in this section. If applicable, assumptions and limitations should also be included.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The introduction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1D424F8-31E3-D5DB-38C3-073C83562FB3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21380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AE379AE-0662-1952-6453-88FAFFF193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DA87BD4A-4A00-82EE-7C0B-429279072823}"/>
              </a:ext>
            </a:extLst>
          </p:cNvPr>
          <p:cNvSpPr txBox="1"/>
          <p:nvPr/>
        </p:nvSpPr>
        <p:spPr>
          <a:xfrm>
            <a:off x="3682350" y="228600"/>
            <a:ext cx="4824252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Conceptual / Theoretical Framework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78BE4C6-D836-E32D-2D28-85A86663C6BB}"/>
              </a:ext>
            </a:extLst>
          </p:cNvPr>
          <p:cNvSpPr txBox="1"/>
          <p:nvPr/>
        </p:nvSpPr>
        <p:spPr>
          <a:xfrm>
            <a:off x="1001614" y="1579245"/>
            <a:ext cx="10185723" cy="369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Conceptual / Theoretical Framework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theoretical foundations of the research and its position in the existing literature should be briefly presented in this section.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60D0D66A-0C9E-758A-0C83-5EAAFC1D7E43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12219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459A-82F9-226F-F727-2F4EBBC6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04303F3-1A08-FF4A-C176-E321A87C4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D4842E01-D8F7-004D-C5A5-0D3B5B2CE5EA}"/>
              </a:ext>
            </a:extLst>
          </p:cNvPr>
          <p:cNvSpPr txBox="1"/>
          <p:nvPr/>
        </p:nvSpPr>
        <p:spPr>
          <a:xfrm>
            <a:off x="3682350" y="228600"/>
            <a:ext cx="4824252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Conceptual / Theoretical Framework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2851C5F-5055-460C-A39A-1A5793FDBF2D}"/>
              </a:ext>
            </a:extLst>
          </p:cNvPr>
          <p:cNvSpPr txBox="1"/>
          <p:nvPr/>
        </p:nvSpPr>
        <p:spPr>
          <a:xfrm>
            <a:off x="1001614" y="1579245"/>
            <a:ext cx="10185723" cy="369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Conceptual / Theoretical Framework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theoretical foundations of the research and its position in the existing literature should be briefly presented in this section.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02FB53F2-BF00-0E8E-4531-53C449FC93B0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405992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3C9A2-401F-3DA7-6C18-3AB724E4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E58417-F7DE-2F1D-D461-F65277F0CF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B789BC2A-3F1C-C24C-1EBB-A5869AB2798E}"/>
              </a:ext>
            </a:extLst>
          </p:cNvPr>
          <p:cNvSpPr txBox="1"/>
          <p:nvPr/>
        </p:nvSpPr>
        <p:spPr>
          <a:xfrm>
            <a:off x="3682350" y="228600"/>
            <a:ext cx="4824252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Conceptual / Theoretical Framework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A28ADB5-B161-2FF7-A157-3AECE3626CF3}"/>
              </a:ext>
            </a:extLst>
          </p:cNvPr>
          <p:cNvSpPr txBox="1"/>
          <p:nvPr/>
        </p:nvSpPr>
        <p:spPr>
          <a:xfrm>
            <a:off x="1001614" y="1579245"/>
            <a:ext cx="10185723" cy="369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Conceptual / Theoretical Framework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theoretical foundations of the research and its position in the existing literature should be briefly presented in this section.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on this page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35121085-6098-37E6-5148-E29E6AF1AF5F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856662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40F8739-167E-81E2-4039-FEB8FABDD6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065AAA66-650D-97A8-8843-E617A01EB6CA}"/>
              </a:ext>
            </a:extLst>
          </p:cNvPr>
          <p:cNvSpPr txBox="1"/>
          <p:nvPr/>
        </p:nvSpPr>
        <p:spPr>
          <a:xfrm>
            <a:off x="4539234" y="304800"/>
            <a:ext cx="3110484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Materials and Methods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C3A36C1-11E2-AAAE-E51F-86D2852EDFB5}"/>
              </a:ext>
            </a:extLst>
          </p:cNvPr>
          <p:cNvSpPr txBox="1"/>
          <p:nvPr/>
        </p:nvSpPr>
        <p:spPr>
          <a:xfrm>
            <a:off x="898303" y="1393507"/>
            <a:ext cx="10392346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Research Methodology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explain the following methodological aspects of the study: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a. Research design/model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b. Data collection method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c. Population and sample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d. Statistical techniques used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e. Data analysis approach and other methodological considerations.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7AF42095-CBCC-68D0-1E84-D24E75112B4B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197530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F98F-8AB8-487C-BE70-2D3C24A3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ADBFB8-12EE-5471-601E-C7B8356D95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A1EC4458-2CF6-DD05-A7E4-36CE092F658A}"/>
              </a:ext>
            </a:extLst>
          </p:cNvPr>
          <p:cNvSpPr txBox="1"/>
          <p:nvPr/>
        </p:nvSpPr>
        <p:spPr>
          <a:xfrm>
            <a:off x="4539234" y="304800"/>
            <a:ext cx="3110484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Materials and Methods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BC4F503-627C-DA39-A8E8-87CFFF5016F1}"/>
              </a:ext>
            </a:extLst>
          </p:cNvPr>
          <p:cNvSpPr txBox="1"/>
          <p:nvPr/>
        </p:nvSpPr>
        <p:spPr>
          <a:xfrm>
            <a:off x="898303" y="1393507"/>
            <a:ext cx="10392346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Research Methodology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explain the following methodological aspects of the study: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a. Research design/model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b. Data collection method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c. Population and sample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d. Statistical techniques used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e. Data analysis approach and other methodological considerations.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58FE69F8-6400-BD39-6C51-33A88C0BD2FE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1839584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2A12-BC1C-20F9-4F3C-7FBAD17A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EED8F9C-8F2F-2C7B-9D2E-5062477D1D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EC64BD63-8307-F4F3-194B-58E5F3C703A2}"/>
              </a:ext>
            </a:extLst>
          </p:cNvPr>
          <p:cNvSpPr txBox="1"/>
          <p:nvPr/>
        </p:nvSpPr>
        <p:spPr>
          <a:xfrm>
            <a:off x="4539234" y="304800"/>
            <a:ext cx="3110484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Materials and Methods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A37774CF-3775-7896-A372-C4671F81F83A}"/>
              </a:ext>
            </a:extLst>
          </p:cNvPr>
          <p:cNvSpPr txBox="1"/>
          <p:nvPr/>
        </p:nvSpPr>
        <p:spPr>
          <a:xfrm>
            <a:off x="898303" y="1393507"/>
            <a:ext cx="10392346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Research Methodology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explain the following methodological aspects of the study: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a. Research design/model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b. Data collection method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c. Population and sample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d. Statistical techniques used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e. Data analysis approach and other methodological considerations.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three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793B71EB-AC3B-83CA-750A-AFA90775323B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48253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53A1DB0-0FED-BB22-4B19-3F3458302C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75EFD0B5-8048-9BC7-2ACA-DA6DD6FB7CE7}"/>
              </a:ext>
            </a:extLst>
          </p:cNvPr>
          <p:cNvSpPr txBox="1"/>
          <p:nvPr/>
        </p:nvSpPr>
        <p:spPr>
          <a:xfrm>
            <a:off x="4931235" y="304800"/>
            <a:ext cx="2326481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Research Findings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550AAE85-D514-CFB3-493E-B3DACA64B879}"/>
              </a:ext>
            </a:extLst>
          </p:cNvPr>
          <p:cNvSpPr txBox="1"/>
          <p:nvPr/>
        </p:nvSpPr>
        <p:spPr>
          <a:xfrm>
            <a:off x="1015491" y="1950720"/>
            <a:ext cx="10157969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and interpret the findings obtained from the study.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five slides. However, if there are a large number of tables, this rule may be extended accordingly.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A05D3E7-4FD6-300C-D1EB-E5D8A0F7DCD0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237201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9D9E-66C2-15EB-8282-402B9C1D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DFD8E39-1198-A23D-B581-A89E5338A0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75B3DE0B-1656-9907-85B7-9791BA9B1847}"/>
              </a:ext>
            </a:extLst>
          </p:cNvPr>
          <p:cNvSpPr txBox="1"/>
          <p:nvPr/>
        </p:nvSpPr>
        <p:spPr>
          <a:xfrm>
            <a:off x="4931235" y="304800"/>
            <a:ext cx="2326481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Research Findings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97510CE9-964A-5747-8222-7A638A73A58C}"/>
              </a:ext>
            </a:extLst>
          </p:cNvPr>
          <p:cNvSpPr txBox="1"/>
          <p:nvPr/>
        </p:nvSpPr>
        <p:spPr>
          <a:xfrm>
            <a:off x="1015491" y="1950720"/>
            <a:ext cx="10157969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and interpret the findings obtained from the study.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five slides. However, if there are a large number of tables, this rule may be extended accordingly.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CA527099-5FC7-0C41-2C7C-FC6A3DE2D035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1764194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4C64-68E7-36EC-8E0A-7C8E819A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38E7D40-B12A-7285-C81F-053F75EBD5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E7D1EC6B-15BB-5A35-E84B-53EBC67AB4CD}"/>
              </a:ext>
            </a:extLst>
          </p:cNvPr>
          <p:cNvSpPr txBox="1"/>
          <p:nvPr/>
        </p:nvSpPr>
        <p:spPr>
          <a:xfrm>
            <a:off x="4931235" y="304800"/>
            <a:ext cx="2326481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Research Findings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2090A4EA-C031-FC2C-47B4-832E74B9ABC5}"/>
              </a:ext>
            </a:extLst>
          </p:cNvPr>
          <p:cNvSpPr txBox="1"/>
          <p:nvPr/>
        </p:nvSpPr>
        <p:spPr>
          <a:xfrm>
            <a:off x="1015491" y="1950720"/>
            <a:ext cx="10157969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and interpret the findings obtained from the study.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five slides. However, if there are a large number of tables, this rule may be extended accordingly.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DB0919F5-87F4-FE97-0190-03F18E72E4F1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4015978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C040-9DF4-EE90-6503-F2356898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936E8A9-6587-C7C5-74F1-2D5D01C327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22E2C1EF-0422-6AF5-8EFD-323A83DE951A}"/>
              </a:ext>
            </a:extLst>
          </p:cNvPr>
          <p:cNvSpPr txBox="1"/>
          <p:nvPr/>
        </p:nvSpPr>
        <p:spPr>
          <a:xfrm>
            <a:off x="4931235" y="304800"/>
            <a:ext cx="2326481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Research Findings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EE8C68B5-9201-BA72-941B-05DCC77DFCD8}"/>
              </a:ext>
            </a:extLst>
          </p:cNvPr>
          <p:cNvSpPr txBox="1"/>
          <p:nvPr/>
        </p:nvSpPr>
        <p:spPr>
          <a:xfrm>
            <a:off x="1015491" y="1950720"/>
            <a:ext cx="10157969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and interpret the findings obtained from the study.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five slides. However, if there are a large number of tables, this rule may be extended accordingly.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84DD75B-AEE9-DB8A-B9BA-6C621431F9CD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0156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F5C8A26-1DE4-38A0-0FFF-C27358DE5B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3544903A-18F6-003A-6D89-34412117E6C7}"/>
              </a:ext>
            </a:extLst>
          </p:cNvPr>
          <p:cNvSpPr txBox="1"/>
          <p:nvPr/>
        </p:nvSpPr>
        <p:spPr>
          <a:xfrm>
            <a:off x="3852518" y="228600"/>
            <a:ext cx="4486964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Conclusion and</a:t>
            </a:r>
            <a:r>
              <a:rPr lang="tr-TR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Recommendations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0EFE2D2-8970-27E2-7A6F-FE4D9D89F816}"/>
              </a:ext>
            </a:extLst>
          </p:cNvPr>
          <p:cNvSpPr txBox="1"/>
          <p:nvPr/>
        </p:nvSpPr>
        <p:spPr>
          <a:xfrm>
            <a:off x="1135900" y="1950720"/>
            <a:ext cx="9917152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the findings of the study and provide recommendations based on the results.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four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53A2F06-1294-98C1-2D98-AB6D282BD839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1595189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3E7B-C11F-0D64-7EBA-FD91DFA8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C40E1E8-B443-51B0-36A0-74ACEEE143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348848DE-53DC-6837-0CA7-6C33314D5CAD}"/>
              </a:ext>
            </a:extLst>
          </p:cNvPr>
          <p:cNvSpPr txBox="1"/>
          <p:nvPr/>
        </p:nvSpPr>
        <p:spPr>
          <a:xfrm>
            <a:off x="3852518" y="228600"/>
            <a:ext cx="4486964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Conclusion and</a:t>
            </a:r>
            <a:r>
              <a:rPr lang="tr-TR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Recommendations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F4B6709-BA2C-B20A-33A9-288872483BBE}"/>
              </a:ext>
            </a:extLst>
          </p:cNvPr>
          <p:cNvSpPr txBox="1"/>
          <p:nvPr/>
        </p:nvSpPr>
        <p:spPr>
          <a:xfrm>
            <a:off x="1135900" y="1950720"/>
            <a:ext cx="9917152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the findings of the study and provide recommendations based on the results.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four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ED5FC285-F84D-A653-8230-D651F423CD8D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834284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0F96-3DD3-3AB4-7606-4A86C4DB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2D0CAA-5372-1B23-41DB-A23F339F7C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1A12B348-26E6-D76C-A5A2-CE70E4A29E84}"/>
              </a:ext>
            </a:extLst>
          </p:cNvPr>
          <p:cNvSpPr txBox="1"/>
          <p:nvPr/>
        </p:nvSpPr>
        <p:spPr>
          <a:xfrm>
            <a:off x="3852518" y="228600"/>
            <a:ext cx="4486964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Conclusion and</a:t>
            </a:r>
            <a:r>
              <a:rPr lang="tr-TR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1947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Recommendations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0CA6274-EBB4-093E-AFC9-FE47DD7B499A}"/>
              </a:ext>
            </a:extLst>
          </p:cNvPr>
          <p:cNvSpPr txBox="1"/>
          <p:nvPr/>
        </p:nvSpPr>
        <p:spPr>
          <a:xfrm>
            <a:off x="1135900" y="1950720"/>
            <a:ext cx="9917152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present the findings of the study and provide recommendations based on the results.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six lines per slide (1.5 line spacing).</a:t>
            </a:r>
          </a:p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maximum of four slides.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93F181D7-BB99-189C-61B8-7C60D2F8A332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3267633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D86338-6D05-2224-41D2-5E523FF25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93BAE68A-BC95-5C08-A1F0-EAF6FE068BB8}"/>
              </a:ext>
            </a:extLst>
          </p:cNvPr>
          <p:cNvSpPr txBox="1"/>
          <p:nvPr/>
        </p:nvSpPr>
        <p:spPr>
          <a:xfrm>
            <a:off x="4730374" y="228600"/>
            <a:ext cx="2728205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Resources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74F7FBD-041C-08D8-0437-76AB4685BBD9}"/>
              </a:ext>
            </a:extLst>
          </p:cNvPr>
          <p:cNvSpPr txBox="1"/>
          <p:nvPr/>
        </p:nvSpPr>
        <p:spPr>
          <a:xfrm>
            <a:off x="995692" y="1760219"/>
            <a:ext cx="10197568" cy="333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section should list the key/reference sources of the research to provide valuable insights for the audience. Only a few selected sources should be included.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Do not exceed ten lines on this slide (1.5 line spacing).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Notes: This section should be presented in a single slide.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F1F3BACE-C077-6DE8-76A9-3CB7B026741C}"/>
              </a:ext>
            </a:extLst>
          </p:cNvPr>
          <p:cNvSpPr txBox="1"/>
          <p:nvPr/>
        </p:nvSpPr>
        <p:spPr>
          <a:xfrm>
            <a:off x="695325" y="6400800"/>
            <a:ext cx="2692825" cy="2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chemeClr val="bg1"/>
                </a:solidFill>
                <a:latin typeface="Tahoma Bold"/>
                <a:ea typeface="Tahoma Bold"/>
                <a:cs typeface="Tahoma Bold"/>
                <a:sym typeface="Tahoma Bold"/>
              </a:rPr>
              <a:t>Name-Surname of the Presenter</a:t>
            </a:r>
          </a:p>
        </p:txBody>
      </p:sp>
    </p:spTree>
    <p:extLst>
      <p:ext uri="{BB962C8B-B14F-4D97-AF65-F5344CB8AC3E}">
        <p14:creationId xmlns:p14="http://schemas.microsoft.com/office/powerpoint/2010/main" val="2535796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logo, yazı tipi, ticari mark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19D1E90-3AF8-D722-FA16-DBA8A1E5B9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1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1324</Words>
  <Application>Microsoft Office PowerPoint</Application>
  <PresentationFormat>Geniş ekran</PresentationFormat>
  <Paragraphs>198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6" baseType="lpstr">
      <vt:lpstr>Calibri</vt:lpstr>
      <vt:lpstr>Tahoma Bold</vt:lpstr>
      <vt:lpstr>Aptos</vt:lpstr>
      <vt:lpstr>Arial</vt:lpstr>
      <vt:lpstr>Tahoma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UYIK - 2025</dc:title>
  <dc:creator>UYIK</dc:creator>
  <cp:lastModifiedBy>Mesut Gökay OKUR</cp:lastModifiedBy>
  <cp:revision>35</cp:revision>
  <dcterms:created xsi:type="dcterms:W3CDTF">2006-08-16T00:00:00Z</dcterms:created>
  <dcterms:modified xsi:type="dcterms:W3CDTF">2025-12-15T18:11:28Z</dcterms:modified>
  <dc:identifier>DAGfY7x5RjY</dc:identifier>
</cp:coreProperties>
</file>